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chivo Black" charset="1" panose="020B0A03020202020B04"/>
      <p:regular r:id="rId21"/>
    </p:embeddedFont>
    <p:embeddedFont>
      <p:font typeface="Red Hat Display" charset="1" panose="02010503040201060303"/>
      <p:regular r:id="rId22"/>
    </p:embeddedFont>
    <p:embeddedFont>
      <p:font typeface="Red Hat Display Bold" charset="1" panose="02010803040201060303"/>
      <p:regular r:id="rId23"/>
    </p:embeddedFont>
    <p:embeddedFont>
      <p:font typeface="Yeseva One" charset="1" panose="00000500000000000000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3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7750" y="1534195"/>
            <a:ext cx="8606662" cy="1578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14"/>
              </a:lnSpc>
            </a:pPr>
            <a:r>
              <a:rPr lang="en-US" sz="639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Credit Card Early  </a:t>
            </a:r>
          </a:p>
          <a:p>
            <a:pPr algn="l">
              <a:lnSpc>
                <a:spcPts val="601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76325" y="7303710"/>
            <a:ext cx="6679929" cy="746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sz="4373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by </a:t>
            </a:r>
            <a:r>
              <a:rPr lang="en-US" b="true" sz="4373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Bikash Bora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-1542318">
            <a:off x="13654428" y="80032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2399406"/>
            <a:ext cx="8514426" cy="80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63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Risk Detection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6325" y="3255092"/>
            <a:ext cx="3339964" cy="792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4"/>
              </a:lnSpc>
            </a:pPr>
            <a:r>
              <a:rPr lang="en-US" sz="616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8135599"/>
            <a:ext cx="7381818" cy="1517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2"/>
              </a:lnSpc>
              <a:spcBef>
                <a:spcPct val="0"/>
              </a:spcBef>
            </a:pPr>
            <a:r>
              <a:rPr lang="en-US" b="true" sz="4373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G</a:t>
            </a:r>
            <a:r>
              <a:rPr lang="en-US" b="true" sz="4373">
                <a:solidFill>
                  <a:srgbClr val="F4F4ED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auhati University</a:t>
            </a:r>
          </a:p>
          <a:p>
            <a:pPr algn="l">
              <a:lnSpc>
                <a:spcPts val="612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220794"/>
            <a:ext cx="9324196" cy="133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  <a:spcBef>
                <a:spcPct val="0"/>
              </a:spcBef>
            </a:pP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Earl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 Warn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ng System for Credit C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rd Delinquency using Mac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ine Learning +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B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ehavi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ora</a:t>
            </a:r>
            <a:r>
              <a:rPr lang="en-US" sz="2529">
                <a:solidFill>
                  <a:srgbClr val="F4F4ED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 Flags</a:t>
            </a:r>
          </a:p>
          <a:p>
            <a:pPr algn="l">
              <a:lnSpc>
                <a:spcPts val="354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4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0602" y="1682038"/>
            <a:ext cx="16892901" cy="6463584"/>
            <a:chOff x="0" y="0"/>
            <a:chExt cx="4484424" cy="17158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84424" cy="1715836"/>
            </a:xfrm>
            <a:custGeom>
              <a:avLst/>
              <a:gdLst/>
              <a:ahLst/>
              <a:cxnLst/>
              <a:rect r="r" b="b" t="t" l="l"/>
              <a:pathLst>
                <a:path h="1715836" w="4484424">
                  <a:moveTo>
                    <a:pt x="9166" y="0"/>
                  </a:moveTo>
                  <a:lnTo>
                    <a:pt x="4475258" y="0"/>
                  </a:lnTo>
                  <a:cubicBezTo>
                    <a:pt x="4477689" y="0"/>
                    <a:pt x="4480020" y="966"/>
                    <a:pt x="4481739" y="2685"/>
                  </a:cubicBezTo>
                  <a:cubicBezTo>
                    <a:pt x="4483458" y="4404"/>
                    <a:pt x="4484424" y="6735"/>
                    <a:pt x="4484424" y="9166"/>
                  </a:cubicBezTo>
                  <a:lnTo>
                    <a:pt x="4484424" y="1706670"/>
                  </a:lnTo>
                  <a:cubicBezTo>
                    <a:pt x="4484424" y="1711733"/>
                    <a:pt x="4480320" y="1715836"/>
                    <a:pt x="4475258" y="1715836"/>
                  </a:cubicBezTo>
                  <a:lnTo>
                    <a:pt x="9166" y="1715836"/>
                  </a:lnTo>
                  <a:cubicBezTo>
                    <a:pt x="6735" y="1715836"/>
                    <a:pt x="4404" y="1714871"/>
                    <a:pt x="2685" y="1713152"/>
                  </a:cubicBezTo>
                  <a:cubicBezTo>
                    <a:pt x="966" y="1711433"/>
                    <a:pt x="0" y="1709101"/>
                    <a:pt x="0" y="1706670"/>
                  </a:cubicBezTo>
                  <a:lnTo>
                    <a:pt x="0" y="9166"/>
                  </a:lnTo>
                  <a:cubicBezTo>
                    <a:pt x="0" y="4104"/>
                    <a:pt x="4104" y="0"/>
                    <a:pt x="9166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84424" cy="1753936"/>
            </a:xfrm>
            <a:prstGeom prst="rect">
              <a:avLst/>
            </a:prstGeom>
          </p:spPr>
          <p:txBody>
            <a:bodyPr anchor="ctr" rtlCol="false" tIns="50401" lIns="50401" bIns="50401" rIns="50401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4352007"/>
            <a:ext cx="16102966" cy="2345847"/>
            <a:chOff x="0" y="0"/>
            <a:chExt cx="21470621" cy="3127796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968285" cy="3101138"/>
              <a:chOff x="0" y="0"/>
              <a:chExt cx="3082702" cy="137191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082702" cy="1371914"/>
              </a:xfrm>
              <a:custGeom>
                <a:avLst/>
                <a:gdLst/>
                <a:ahLst/>
                <a:cxnLst/>
                <a:rect r="r" b="b" t="t" l="l"/>
                <a:pathLst>
                  <a:path h="1371914" w="3082702">
                    <a:moveTo>
                      <a:pt x="29627" y="0"/>
                    </a:moveTo>
                    <a:lnTo>
                      <a:pt x="3053075" y="0"/>
                    </a:lnTo>
                    <a:cubicBezTo>
                      <a:pt x="3069438" y="0"/>
                      <a:pt x="3082702" y="13265"/>
                      <a:pt x="3082702" y="29627"/>
                    </a:cubicBezTo>
                    <a:lnTo>
                      <a:pt x="3082702" y="1342287"/>
                    </a:lnTo>
                    <a:cubicBezTo>
                      <a:pt x="3082702" y="1358649"/>
                      <a:pt x="3069438" y="1371914"/>
                      <a:pt x="3053075" y="1371914"/>
                    </a:cubicBezTo>
                    <a:lnTo>
                      <a:pt x="29627" y="1371914"/>
                    </a:lnTo>
                    <a:cubicBezTo>
                      <a:pt x="13265" y="1371914"/>
                      <a:pt x="0" y="1358649"/>
                      <a:pt x="0" y="1342287"/>
                    </a:cubicBezTo>
                    <a:lnTo>
                      <a:pt x="0" y="29627"/>
                    </a:lnTo>
                    <a:cubicBezTo>
                      <a:pt x="0" y="13265"/>
                      <a:pt x="13265" y="0"/>
                      <a:pt x="29627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3082702" cy="1410014"/>
              </a:xfrm>
              <a:prstGeom prst="rect">
                <a:avLst/>
              </a:prstGeom>
            </p:spPr>
            <p:txBody>
              <a:bodyPr anchor="ctr" rtlCol="false" tIns="22683" lIns="22683" bIns="22683" rIns="22683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607964" y="609836"/>
              <a:ext cx="5752357" cy="1386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8"/>
                </a:lnSpc>
              </a:pPr>
              <a:r>
                <a:rPr lang="en-US" sz="4018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Late Detection</a:t>
              </a:r>
            </a:p>
            <a:p>
              <a:pPr algn="l">
                <a:lnSpc>
                  <a:spcPts val="3898"/>
                </a:lnSpc>
              </a:pP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429611" y="1738063"/>
              <a:ext cx="6184663" cy="6508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35"/>
                </a:lnSpc>
                <a:spcBef>
                  <a:spcPct val="0"/>
                </a:spcBef>
              </a:pPr>
              <a:r>
                <a:rPr lang="en-US" sz="1507" spc="90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B</a:t>
              </a:r>
              <a:r>
                <a:rPr lang="en-US" sz="1507" spc="90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anks detect risk too late (after DPD increases)</a:t>
              </a:r>
            </a:p>
            <a:p>
              <a:pPr algn="l" marL="0" indent="0" lvl="0">
                <a:lnSpc>
                  <a:spcPts val="2035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7432591" y="0"/>
              <a:ext cx="6968285" cy="3101138"/>
              <a:chOff x="0" y="0"/>
              <a:chExt cx="3082702" cy="1371914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082702" cy="1371914"/>
              </a:xfrm>
              <a:custGeom>
                <a:avLst/>
                <a:gdLst/>
                <a:ahLst/>
                <a:cxnLst/>
                <a:rect r="r" b="b" t="t" l="l"/>
                <a:pathLst>
                  <a:path h="1371914" w="3082702">
                    <a:moveTo>
                      <a:pt x="29627" y="0"/>
                    </a:moveTo>
                    <a:lnTo>
                      <a:pt x="3053075" y="0"/>
                    </a:lnTo>
                    <a:cubicBezTo>
                      <a:pt x="3069438" y="0"/>
                      <a:pt x="3082702" y="13265"/>
                      <a:pt x="3082702" y="29627"/>
                    </a:cubicBezTo>
                    <a:lnTo>
                      <a:pt x="3082702" y="1342287"/>
                    </a:lnTo>
                    <a:cubicBezTo>
                      <a:pt x="3082702" y="1358649"/>
                      <a:pt x="3069438" y="1371914"/>
                      <a:pt x="3053075" y="1371914"/>
                    </a:cubicBezTo>
                    <a:lnTo>
                      <a:pt x="29627" y="1371914"/>
                    </a:lnTo>
                    <a:cubicBezTo>
                      <a:pt x="13265" y="1371914"/>
                      <a:pt x="0" y="1358649"/>
                      <a:pt x="0" y="1342287"/>
                    </a:cubicBezTo>
                    <a:lnTo>
                      <a:pt x="0" y="29627"/>
                    </a:lnTo>
                    <a:cubicBezTo>
                      <a:pt x="0" y="13265"/>
                      <a:pt x="13265" y="0"/>
                      <a:pt x="29627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082702" cy="1410014"/>
              </a:xfrm>
              <a:prstGeom prst="rect">
                <a:avLst/>
              </a:prstGeom>
            </p:spPr>
            <p:txBody>
              <a:bodyPr anchor="ctr" rtlCol="false" tIns="22683" lIns="22683" bIns="22683" rIns="22683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8040556" y="609836"/>
              <a:ext cx="5752357" cy="13863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898"/>
                </a:lnSpc>
              </a:pPr>
              <a:r>
                <a:rPr lang="en-US" sz="4018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Subtle Signals</a:t>
              </a:r>
            </a:p>
            <a:p>
              <a:pPr algn="l">
                <a:lnSpc>
                  <a:spcPts val="3898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7805629" y="1703381"/>
              <a:ext cx="6607847" cy="68551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46"/>
                </a:lnSpc>
                <a:spcBef>
                  <a:spcPct val="0"/>
                </a:spcBef>
              </a:pPr>
              <a:r>
                <a:rPr lang="en-US" sz="1590" spc="95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</a:t>
              </a:r>
              <a:r>
                <a:rPr lang="en-US" sz="1590" spc="95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ubtle early signals exist but are rarely tracked</a:t>
              </a:r>
            </a:p>
            <a:p>
              <a:pPr algn="l" marL="0" indent="0" lvl="0">
                <a:lnSpc>
                  <a:spcPts val="2146"/>
                </a:lnSpc>
                <a:spcBef>
                  <a:spcPct val="0"/>
                </a:spcBef>
              </a:pPr>
            </a:p>
          </p:txBody>
        </p:sp>
        <p:grpSp>
          <p:nvGrpSpPr>
            <p:cNvPr name="Group 16" id="16"/>
            <p:cNvGrpSpPr/>
            <p:nvPr/>
          </p:nvGrpSpPr>
          <p:grpSpPr>
            <a:xfrm rot="0">
              <a:off x="14865183" y="0"/>
              <a:ext cx="6605438" cy="3127796"/>
              <a:chOff x="0" y="0"/>
              <a:chExt cx="3082702" cy="145971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082702" cy="1459716"/>
              </a:xfrm>
              <a:custGeom>
                <a:avLst/>
                <a:gdLst/>
                <a:ahLst/>
                <a:cxnLst/>
                <a:rect r="r" b="b" t="t" l="l"/>
                <a:pathLst>
                  <a:path h="1459716" w="3082702">
                    <a:moveTo>
                      <a:pt x="31255" y="0"/>
                    </a:moveTo>
                    <a:lnTo>
                      <a:pt x="3051448" y="0"/>
                    </a:lnTo>
                    <a:cubicBezTo>
                      <a:pt x="3068709" y="0"/>
                      <a:pt x="3082702" y="13993"/>
                      <a:pt x="3082702" y="31255"/>
                    </a:cubicBezTo>
                    <a:lnTo>
                      <a:pt x="3082702" y="1428462"/>
                    </a:lnTo>
                    <a:cubicBezTo>
                      <a:pt x="3082702" y="1436751"/>
                      <a:pt x="3079410" y="1444701"/>
                      <a:pt x="3073548" y="1450562"/>
                    </a:cubicBezTo>
                    <a:cubicBezTo>
                      <a:pt x="3067687" y="1456423"/>
                      <a:pt x="3059737" y="1459716"/>
                      <a:pt x="3051448" y="1459716"/>
                    </a:cubicBezTo>
                    <a:lnTo>
                      <a:pt x="31255" y="1459716"/>
                    </a:lnTo>
                    <a:cubicBezTo>
                      <a:pt x="13993" y="1459716"/>
                      <a:pt x="0" y="1445723"/>
                      <a:pt x="0" y="1428462"/>
                    </a:cubicBezTo>
                    <a:lnTo>
                      <a:pt x="0" y="31255"/>
                    </a:lnTo>
                    <a:cubicBezTo>
                      <a:pt x="0" y="13993"/>
                      <a:pt x="13993" y="0"/>
                      <a:pt x="31255" y="0"/>
                    </a:cubicBezTo>
                    <a:close/>
                  </a:path>
                </a:pathLst>
              </a:custGeom>
              <a:solidFill>
                <a:srgbClr val="04001E"/>
              </a:solidFill>
              <a:ln w="38100" cap="sq">
                <a:solidFill>
                  <a:srgbClr val="E5E1DA"/>
                </a:soli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082702" cy="1497816"/>
              </a:xfrm>
              <a:prstGeom prst="rect">
                <a:avLst/>
              </a:prstGeom>
            </p:spPr>
            <p:txBody>
              <a:bodyPr anchor="ctr" rtlCol="false" tIns="21501" lIns="21501" bIns="21501" rIns="21501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5441490" y="573020"/>
              <a:ext cx="5452825" cy="131924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95"/>
                </a:lnSpc>
              </a:pPr>
              <a:r>
                <a:rPr lang="en-US" sz="380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Solution Need</a:t>
              </a:r>
            </a:p>
            <a:p>
              <a:pPr algn="l">
                <a:lnSpc>
                  <a:spcPts val="3695"/>
                </a:lnSpc>
              </a:pP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5097351" y="1556853"/>
              <a:ext cx="6216702" cy="9785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19"/>
                </a:lnSpc>
                <a:spcBef>
                  <a:spcPct val="0"/>
                </a:spcBef>
              </a:pPr>
              <a:r>
                <a:rPr lang="en-US" sz="1496" spc="89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Need a ligh</a:t>
              </a:r>
              <a:r>
                <a:rPr lang="en-US" sz="1496" spc="89" u="none">
                  <a:solidFill>
                    <a:srgbClr val="FFFFFF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tweight, explainable model to identify early delinquency risk</a:t>
              </a:r>
            </a:p>
            <a:p>
              <a:pPr algn="l" marL="0" indent="0" lvl="0">
                <a:lnSpc>
                  <a:spcPts val="20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66800" y="2739981"/>
            <a:ext cx="8715026" cy="161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2"/>
              </a:lnSpc>
            </a:pPr>
            <a:r>
              <a:rPr lang="en-US" sz="6352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Problem Statement</a:t>
            </a:r>
          </a:p>
          <a:p>
            <a:pPr algn="l">
              <a:lnSpc>
                <a:spcPts val="6162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1542318">
            <a:off x="-8337295" y="-1677870"/>
            <a:ext cx="12275888" cy="13164492"/>
          </a:xfrm>
          <a:custGeom>
            <a:avLst/>
            <a:gdLst/>
            <a:ahLst/>
            <a:cxnLst/>
            <a:rect r="r" b="b" t="t" l="l"/>
            <a:pathLst>
              <a:path h="13164492" w="12275888">
                <a:moveTo>
                  <a:pt x="0" y="13164491"/>
                </a:moveTo>
                <a:lnTo>
                  <a:pt x="12275888" y="13164491"/>
                </a:lnTo>
                <a:lnTo>
                  <a:pt x="12275888" y="0"/>
                </a:lnTo>
                <a:lnTo>
                  <a:pt x="0" y="0"/>
                </a:lnTo>
                <a:lnTo>
                  <a:pt x="0" y="13164491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91473" y="1219200"/>
            <a:ext cx="15305054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30"/>
              </a:lnSpc>
            </a:pPr>
            <a:r>
              <a:rPr lang="en-US" sz="90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Objectives</a:t>
            </a:r>
          </a:p>
          <a:p>
            <a:pPr algn="ctr" marL="0" indent="0" lvl="1">
              <a:lnSpc>
                <a:spcPts val="8730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-886757" y="3011188"/>
            <a:ext cx="20061513" cy="0"/>
          </a:xfrm>
          <a:prstGeom prst="line">
            <a:avLst/>
          </a:prstGeom>
          <a:ln cap="flat" w="28575">
            <a:solidFill>
              <a:srgbClr val="F4F4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281413" y="2720073"/>
            <a:ext cx="502056" cy="50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1473" y="2760160"/>
            <a:ext cx="502056" cy="50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835325" y="2760160"/>
            <a:ext cx="502056" cy="5020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372603" y="2720073"/>
            <a:ext cx="502056" cy="5020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91473" y="3584079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58624" y="3584079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403" y="4332715"/>
            <a:ext cx="3190196" cy="210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72"/>
              </a:lnSpc>
            </a:pPr>
            <a:r>
              <a:rPr lang="en-US" b="true" sz="27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</a:t>
            </a:r>
            <a:r>
              <a:rPr lang="en-US" b="true" sz="2738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etect early warning signs before default</a:t>
            </a:r>
          </a:p>
          <a:p>
            <a:pPr algn="ctr">
              <a:lnSpc>
                <a:spcPts val="4272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4300565" y="4441894"/>
            <a:ext cx="4463753" cy="1792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7"/>
              </a:lnSpc>
            </a:pPr>
            <a:r>
              <a:rPr lang="en-US" b="true" sz="308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</a:t>
            </a:r>
            <a:r>
              <a:rPr lang="en-US" b="true" sz="3081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lassify customers into Low/Medium/High risk</a:t>
            </a:r>
          </a:p>
          <a:p>
            <a:pPr algn="ctr">
              <a:lnSpc>
                <a:spcPts val="480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0627673" y="348011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39872" y="4386446"/>
            <a:ext cx="4294539" cy="1817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b="true" sz="3173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</a:t>
            </a:r>
            <a:r>
              <a:rPr lang="en-US" b="true" sz="3173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ovide flags + action recommendations</a:t>
            </a:r>
          </a:p>
          <a:p>
            <a:pPr algn="ctr">
              <a:lnSpc>
                <a:spcPts val="494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5198541" y="3298329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15361" y="4442745"/>
            <a:ext cx="4512353" cy="170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b="true" sz="2973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Off</a:t>
            </a:r>
            <a:r>
              <a:rPr lang="en-US" b="true" sz="2973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er downloadable reports (Excel + PDF)</a:t>
            </a:r>
          </a:p>
          <a:p>
            <a:pPr algn="ctr">
              <a:lnSpc>
                <a:spcPts val="4638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8513290" y="6234583"/>
            <a:ext cx="502056" cy="502056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true" rot="-1542318">
            <a:off x="12042821" y="-193433"/>
            <a:ext cx="9507412" cy="10195616"/>
          </a:xfrm>
          <a:custGeom>
            <a:avLst/>
            <a:gdLst/>
            <a:ahLst/>
            <a:cxnLst/>
            <a:rect r="r" b="b" t="t" l="l"/>
            <a:pathLst>
              <a:path h="10195616" w="9507412">
                <a:moveTo>
                  <a:pt x="0" y="10195616"/>
                </a:moveTo>
                <a:lnTo>
                  <a:pt x="9507412" y="10195616"/>
                </a:lnTo>
                <a:lnTo>
                  <a:pt x="9507412" y="0"/>
                </a:lnTo>
                <a:lnTo>
                  <a:pt x="0" y="0"/>
                </a:lnTo>
                <a:lnTo>
                  <a:pt x="0" y="10195616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8331686" y="6812839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32441" y="7787565"/>
            <a:ext cx="4512353" cy="1702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38"/>
              </a:lnSpc>
            </a:pPr>
            <a:r>
              <a:rPr lang="en-US" b="true" sz="2973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Build a UI for easy readability</a:t>
            </a:r>
          </a:p>
          <a:p>
            <a:pPr algn="ctr">
              <a:lnSpc>
                <a:spcPts val="4638"/>
              </a:lnSpc>
            </a:pPr>
          </a:p>
        </p:txBody>
      </p:sp>
      <p:sp>
        <p:nvSpPr>
          <p:cNvPr name="AutoShape 31" id="31"/>
          <p:cNvSpPr/>
          <p:nvPr/>
        </p:nvSpPr>
        <p:spPr>
          <a:xfrm>
            <a:off x="-1015411" y="6485611"/>
            <a:ext cx="20061513" cy="0"/>
          </a:xfrm>
          <a:prstGeom prst="line">
            <a:avLst/>
          </a:prstGeom>
          <a:ln cap="flat" w="28575">
            <a:solidFill>
              <a:srgbClr val="F4F4E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4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71782" y="767989"/>
            <a:ext cx="6196046" cy="110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2"/>
              </a:lnSpc>
            </a:pPr>
            <a:r>
              <a:rPr lang="en-US" sz="432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 Overview</a:t>
            </a:r>
          </a:p>
          <a:p>
            <a:pPr algn="l">
              <a:lnSpc>
                <a:spcPts val="4192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974839" y="2171639"/>
            <a:ext cx="16338322" cy="5749039"/>
            <a:chOff x="0" y="0"/>
            <a:chExt cx="4156963" cy="1462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56963" cy="1462729"/>
            </a:xfrm>
            <a:custGeom>
              <a:avLst/>
              <a:gdLst/>
              <a:ahLst/>
              <a:cxnLst/>
              <a:rect r="r" b="b" t="t" l="l"/>
              <a:pathLst>
                <a:path h="1462729" w="4156963">
                  <a:moveTo>
                    <a:pt x="9477" y="0"/>
                  </a:moveTo>
                  <a:lnTo>
                    <a:pt x="4147486" y="0"/>
                  </a:lnTo>
                  <a:cubicBezTo>
                    <a:pt x="4152719" y="0"/>
                    <a:pt x="4156963" y="4243"/>
                    <a:pt x="4156963" y="9477"/>
                  </a:cubicBezTo>
                  <a:lnTo>
                    <a:pt x="4156963" y="1453252"/>
                  </a:lnTo>
                  <a:cubicBezTo>
                    <a:pt x="4156963" y="1458486"/>
                    <a:pt x="4152719" y="1462729"/>
                    <a:pt x="4147486" y="1462729"/>
                  </a:cubicBezTo>
                  <a:lnTo>
                    <a:pt x="9477" y="1462729"/>
                  </a:lnTo>
                  <a:cubicBezTo>
                    <a:pt x="4243" y="1462729"/>
                    <a:pt x="0" y="1458486"/>
                    <a:pt x="0" y="1453252"/>
                  </a:cubicBezTo>
                  <a:lnTo>
                    <a:pt x="0" y="9477"/>
                  </a:lnTo>
                  <a:cubicBezTo>
                    <a:pt x="0" y="4243"/>
                    <a:pt x="4243" y="0"/>
                    <a:pt x="9477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56963" cy="1500829"/>
            </a:xfrm>
            <a:prstGeom prst="rect">
              <a:avLst/>
            </a:prstGeom>
          </p:spPr>
          <p:txBody>
            <a:bodyPr anchor="ctr" rtlCol="false" tIns="52586" lIns="52586" bIns="52586" rIns="525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2819814" y="2171639"/>
            <a:ext cx="0" cy="5749039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6034805" y="2159334"/>
            <a:ext cx="0" cy="577364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71782" y="1436823"/>
            <a:ext cx="15397043" cy="542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9"/>
              </a:lnSpc>
            </a:pPr>
            <a:r>
              <a:rPr lang="en-US" sz="2112">
                <a:solidFill>
                  <a:srgbClr val="E6F1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Comprehensive customer transaction data with behavioral indicators for risk assessment</a:t>
            </a:r>
          </a:p>
          <a:p>
            <a:pPr algn="l">
              <a:lnSpc>
                <a:spcPts val="2049"/>
              </a:lnSpc>
            </a:pPr>
          </a:p>
        </p:txBody>
      </p:sp>
      <p:sp>
        <p:nvSpPr>
          <p:cNvPr name="AutoShape 9" id="9"/>
          <p:cNvSpPr/>
          <p:nvPr/>
        </p:nvSpPr>
        <p:spPr>
          <a:xfrm flipH="true">
            <a:off x="1009650" y="2916437"/>
            <a:ext cx="16303511" cy="259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993889" y="3612337"/>
            <a:ext cx="16319272" cy="259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993889" y="4209746"/>
            <a:ext cx="16319272" cy="259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1028700" y="4857604"/>
            <a:ext cx="16284461" cy="259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H="true" flipV="true">
            <a:off x="974839" y="5546386"/>
            <a:ext cx="1633832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H="true">
            <a:off x="1009650" y="6153320"/>
            <a:ext cx="16303511" cy="259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H="true">
            <a:off x="1009650" y="6762023"/>
            <a:ext cx="16303511" cy="25911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 flipV="true">
            <a:off x="993889" y="7371007"/>
            <a:ext cx="1633832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390903" y="2434957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Feature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367829" y="2440020"/>
            <a:ext cx="4185115" cy="29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2216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Origin of the creative idea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28046" y="2440020"/>
            <a:ext cx="4185115" cy="298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9"/>
              </a:lnSpc>
            </a:pPr>
            <a:r>
              <a:rPr lang="en-US" sz="2216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Origin of the creative idea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90903" y="3111390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Credit Limit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390903" y="3787823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Utilisation %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390903" y="4464256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DPD (Days Past Due)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90903" y="5070136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Monthly Spend Change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390903" y="5727519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Min Due Flag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390903" y="6392659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Merchant Mix Index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390903" y="6951907"/>
            <a:ext cx="4643902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Cash Withdrawal Frequency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90903" y="7475782"/>
            <a:ext cx="4643902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Target Variable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6374364" y="3111390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Maximum credit allowance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6374364" y="3717270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Current usage percentage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6374364" y="4342199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Days overdue on payments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6374364" y="5023565"/>
            <a:ext cx="6010377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Month-over-month spending variation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6374364" y="5676015"/>
            <a:ext cx="5732148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Minimum payment behavior indicator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6374364" y="6300944"/>
            <a:ext cx="6010377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Diversity of merchant categories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6374364" y="6906824"/>
            <a:ext cx="517858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ATM cash advance frequency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6374364" y="7456732"/>
            <a:ext cx="4163950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30+ Delinquent status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14186412" y="3111390"/>
            <a:ext cx="1609306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Numeric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4186412" y="3787823"/>
            <a:ext cx="1609306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Numeric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14186412" y="4393703"/>
            <a:ext cx="1609306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Numeric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39" id="39"/>
          <p:cNvSpPr txBox="true"/>
          <p:nvPr/>
        </p:nvSpPr>
        <p:spPr>
          <a:xfrm rot="0">
            <a:off x="14186412" y="4999582"/>
            <a:ext cx="1609306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Numeric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4186412" y="5672136"/>
            <a:ext cx="1609306" cy="83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Binary</a:t>
            </a:r>
          </a:p>
          <a:p>
            <a:pPr algn="l">
              <a:lnSpc>
                <a:spcPts val="2139"/>
              </a:lnSpc>
            </a:pP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4186412" y="6281894"/>
            <a:ext cx="1609306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Numeric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4186412" y="6906824"/>
            <a:ext cx="1609306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Numeric</a:t>
            </a:r>
          </a:p>
          <a:p>
            <a:pPr algn="l">
              <a:lnSpc>
                <a:spcPts val="2139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14186412" y="7456732"/>
            <a:ext cx="1609306" cy="56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2205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Binary</a:t>
            </a:r>
          </a:p>
          <a:p>
            <a:pPr algn="l">
              <a:lnSpc>
                <a:spcPts val="2139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1542318">
            <a:off x="11968542" y="-1035611"/>
            <a:ext cx="7674102" cy="8229600"/>
          </a:xfrm>
          <a:custGeom>
            <a:avLst/>
            <a:gdLst/>
            <a:ahLst/>
            <a:cxnLst/>
            <a:rect r="r" b="b" t="t" l="l"/>
            <a:pathLst>
              <a:path h="8229600" w="7674102">
                <a:moveTo>
                  <a:pt x="0" y="8229600"/>
                </a:moveTo>
                <a:lnTo>
                  <a:pt x="7674102" y="8229600"/>
                </a:lnTo>
                <a:lnTo>
                  <a:pt x="7674102" y="0"/>
                </a:lnTo>
                <a:lnTo>
                  <a:pt x="0" y="0"/>
                </a:lnTo>
                <a:lnTo>
                  <a:pt x="0" y="8229600"/>
                </a:lnTo>
                <a:close/>
              </a:path>
            </a:pathLst>
          </a:custGeom>
          <a:blipFill>
            <a:blip r:embed="rId3">
              <a:alphaModFix amt="34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457071" y="5684749"/>
            <a:ext cx="3322681" cy="3022406"/>
            <a:chOff x="0" y="0"/>
            <a:chExt cx="4430242" cy="4029875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775159" y="0"/>
              <a:ext cx="3655083" cy="1617538"/>
              <a:chOff x="0" y="0"/>
              <a:chExt cx="914548" cy="404728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14548" cy="404728"/>
              </a:xfrm>
              <a:custGeom>
                <a:avLst/>
                <a:gdLst/>
                <a:ahLst/>
                <a:cxnLst/>
                <a:rect r="r" b="b" t="t" l="l"/>
                <a:pathLst>
                  <a:path h="404728" w="914548">
                    <a:moveTo>
                      <a:pt x="711348" y="0"/>
                    </a:moveTo>
                    <a:lnTo>
                      <a:pt x="0" y="0"/>
                    </a:lnTo>
                    <a:lnTo>
                      <a:pt x="0" y="404728"/>
                    </a:lnTo>
                    <a:lnTo>
                      <a:pt x="711348" y="404728"/>
                    </a:lnTo>
                    <a:lnTo>
                      <a:pt x="914548" y="202364"/>
                    </a:lnTo>
                    <a:lnTo>
                      <a:pt x="71134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800248" cy="442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5400000">
              <a:off x="77326" y="-77326"/>
              <a:ext cx="1617538" cy="1772190"/>
              <a:chOff x="0" y="0"/>
              <a:chExt cx="74187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74187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1870">
                    <a:moveTo>
                      <a:pt x="741870" y="0"/>
                    </a:moveTo>
                    <a:lnTo>
                      <a:pt x="741870" y="812800"/>
                    </a:lnTo>
                    <a:lnTo>
                      <a:pt x="370935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4187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74187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683079" y="364127"/>
              <a:ext cx="950698" cy="998460"/>
            </a:xfrm>
            <a:custGeom>
              <a:avLst/>
              <a:gdLst/>
              <a:ahLst/>
              <a:cxnLst/>
              <a:rect r="r" b="b" t="t" l="l"/>
              <a:pathLst>
                <a:path h="998460" w="950698">
                  <a:moveTo>
                    <a:pt x="0" y="0"/>
                  </a:moveTo>
                  <a:lnTo>
                    <a:pt x="950697" y="0"/>
                  </a:lnTo>
                  <a:lnTo>
                    <a:pt x="950697" y="998461"/>
                  </a:lnTo>
                  <a:lnTo>
                    <a:pt x="0" y="998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8115" t="-23163" r="-16323" b="-18245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607393" y="1924404"/>
              <a:ext cx="3102069" cy="2105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41"/>
                </a:lnSpc>
              </a:pPr>
              <a:r>
                <a:rPr lang="en-US" sz="3315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Report</a:t>
              </a:r>
            </a:p>
            <a:p>
              <a:pPr algn="ctr">
                <a:lnSpc>
                  <a:spcPts val="4641"/>
                </a:lnSpc>
              </a:pPr>
              <a:r>
                <a:rPr lang="en-US" sz="3315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generation</a:t>
              </a:r>
            </a:p>
            <a:p>
              <a:pPr algn="ctr">
                <a:lnSpc>
                  <a:spcPts val="3315"/>
                </a:lnSpc>
                <a:spcBef>
                  <a:spcPct val="0"/>
                </a:spcBef>
              </a:pPr>
              <a:r>
                <a:rPr lang="en-US" sz="2368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Exel+PDF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8922" y="1702159"/>
            <a:ext cx="2861850" cy="2574678"/>
            <a:chOff x="0" y="0"/>
            <a:chExt cx="3815800" cy="3432904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667650" y="0"/>
              <a:ext cx="3148150" cy="1393197"/>
              <a:chOff x="0" y="0"/>
              <a:chExt cx="914548" cy="40472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14548" cy="404728"/>
              </a:xfrm>
              <a:custGeom>
                <a:avLst/>
                <a:gdLst/>
                <a:ahLst/>
                <a:cxnLst/>
                <a:rect r="r" b="b" t="t" l="l"/>
                <a:pathLst>
                  <a:path h="404728" w="914548">
                    <a:moveTo>
                      <a:pt x="711348" y="0"/>
                    </a:moveTo>
                    <a:lnTo>
                      <a:pt x="0" y="0"/>
                    </a:lnTo>
                    <a:lnTo>
                      <a:pt x="0" y="404728"/>
                    </a:lnTo>
                    <a:lnTo>
                      <a:pt x="711348" y="404728"/>
                    </a:lnTo>
                    <a:lnTo>
                      <a:pt x="914548" y="202364"/>
                    </a:lnTo>
                    <a:lnTo>
                      <a:pt x="71134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800248" cy="442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5400000">
              <a:off x="66601" y="-66601"/>
              <a:ext cx="1393197" cy="1526400"/>
              <a:chOff x="0" y="0"/>
              <a:chExt cx="74187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74187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1870">
                    <a:moveTo>
                      <a:pt x="741870" y="0"/>
                    </a:moveTo>
                    <a:lnTo>
                      <a:pt x="741870" y="812800"/>
                    </a:lnTo>
                    <a:lnTo>
                      <a:pt x="370935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4187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74187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67650" y="1627927"/>
              <a:ext cx="2299473" cy="1804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8"/>
                </a:lnSpc>
              </a:pPr>
              <a:r>
                <a:rPr lang="en-US" sz="2855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Data</a:t>
              </a:r>
            </a:p>
            <a:p>
              <a:pPr algn="ctr">
                <a:lnSpc>
                  <a:spcPts val="3998"/>
                </a:lnSpc>
              </a:pPr>
              <a:r>
                <a:rPr lang="en-US" sz="2855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ingestion</a:t>
              </a:r>
            </a:p>
            <a:p>
              <a:pPr algn="ctr">
                <a:lnSpc>
                  <a:spcPts val="2855"/>
                </a:lnSpc>
                <a:spcBef>
                  <a:spcPct val="0"/>
                </a:spcBef>
              </a:pPr>
              <a:r>
                <a:rPr lang="en-US" sz="2039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CSV/XLSX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1526400" y="360510"/>
              <a:ext cx="651455" cy="643740"/>
            </a:xfrm>
            <a:custGeom>
              <a:avLst/>
              <a:gdLst/>
              <a:ahLst/>
              <a:cxnLst/>
              <a:rect r="r" b="b" t="t" l="l"/>
              <a:pathLst>
                <a:path h="643740" w="651455">
                  <a:moveTo>
                    <a:pt x="0" y="0"/>
                  </a:moveTo>
                  <a:lnTo>
                    <a:pt x="651455" y="0"/>
                  </a:lnTo>
                  <a:lnTo>
                    <a:pt x="651455" y="643740"/>
                  </a:lnTo>
                  <a:lnTo>
                    <a:pt x="0" y="643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140" t="-26635" r="-9250" b="-137357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48922" y="5684749"/>
            <a:ext cx="3296565" cy="2362191"/>
            <a:chOff x="0" y="0"/>
            <a:chExt cx="4395421" cy="3149588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769066" y="0"/>
              <a:ext cx="3626354" cy="1604824"/>
              <a:chOff x="0" y="0"/>
              <a:chExt cx="914548" cy="40472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914548" cy="404728"/>
              </a:xfrm>
              <a:custGeom>
                <a:avLst/>
                <a:gdLst/>
                <a:ahLst/>
                <a:cxnLst/>
                <a:rect r="r" b="b" t="t" l="l"/>
                <a:pathLst>
                  <a:path h="404728" w="914548">
                    <a:moveTo>
                      <a:pt x="711348" y="0"/>
                    </a:moveTo>
                    <a:lnTo>
                      <a:pt x="0" y="0"/>
                    </a:lnTo>
                    <a:lnTo>
                      <a:pt x="0" y="404728"/>
                    </a:lnTo>
                    <a:lnTo>
                      <a:pt x="711348" y="404728"/>
                    </a:lnTo>
                    <a:lnTo>
                      <a:pt x="914548" y="202364"/>
                    </a:lnTo>
                    <a:lnTo>
                      <a:pt x="71134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800248" cy="442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5400000">
              <a:off x="76718" y="-76718"/>
              <a:ext cx="1604824" cy="1758260"/>
              <a:chOff x="0" y="0"/>
              <a:chExt cx="74187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4187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1870">
                    <a:moveTo>
                      <a:pt x="741870" y="0"/>
                    </a:moveTo>
                    <a:lnTo>
                      <a:pt x="741870" y="812800"/>
                    </a:lnTo>
                    <a:lnTo>
                      <a:pt x="370935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4187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74187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1594440" y="26290"/>
              <a:ext cx="1443925" cy="1443925"/>
            </a:xfrm>
            <a:custGeom>
              <a:avLst/>
              <a:gdLst/>
              <a:ahLst/>
              <a:cxnLst/>
              <a:rect r="r" b="b" t="t" l="l"/>
              <a:pathLst>
                <a:path h="1443925" w="1443925">
                  <a:moveTo>
                    <a:pt x="0" y="0"/>
                  </a:moveTo>
                  <a:lnTo>
                    <a:pt x="1443925" y="0"/>
                  </a:lnTo>
                  <a:lnTo>
                    <a:pt x="1443925" y="1443925"/>
                  </a:lnTo>
                  <a:lnTo>
                    <a:pt x="0" y="1443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392755" y="1864045"/>
              <a:ext cx="3401387" cy="1285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95"/>
                </a:lnSpc>
              </a:pPr>
              <a:r>
                <a:rPr lang="en-US" sz="3211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Risk scoring</a:t>
              </a:r>
            </a:p>
            <a:p>
              <a:pPr algn="ctr">
                <a:lnSpc>
                  <a:spcPts val="3289"/>
                </a:lnSpc>
                <a:spcBef>
                  <a:spcPct val="0"/>
                </a:spcBef>
              </a:pPr>
              <a:r>
                <a:rPr lang="en-US" sz="2349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segmentation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372017" y="5684749"/>
            <a:ext cx="3232881" cy="1901474"/>
            <a:chOff x="0" y="0"/>
            <a:chExt cx="4310508" cy="2535298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754209" y="20354"/>
              <a:ext cx="3556299" cy="1573822"/>
              <a:chOff x="0" y="0"/>
              <a:chExt cx="914548" cy="404728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914548" cy="404728"/>
              </a:xfrm>
              <a:custGeom>
                <a:avLst/>
                <a:gdLst/>
                <a:ahLst/>
                <a:cxnLst/>
                <a:rect r="r" b="b" t="t" l="l"/>
                <a:pathLst>
                  <a:path h="404728" w="914548">
                    <a:moveTo>
                      <a:pt x="711348" y="0"/>
                    </a:moveTo>
                    <a:lnTo>
                      <a:pt x="0" y="0"/>
                    </a:lnTo>
                    <a:lnTo>
                      <a:pt x="0" y="404728"/>
                    </a:lnTo>
                    <a:lnTo>
                      <a:pt x="711348" y="404728"/>
                    </a:lnTo>
                    <a:lnTo>
                      <a:pt x="914548" y="202364"/>
                    </a:lnTo>
                    <a:lnTo>
                      <a:pt x="71134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800248" cy="442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5400000">
              <a:off x="75236" y="-54882"/>
              <a:ext cx="1573822" cy="1724294"/>
              <a:chOff x="0" y="0"/>
              <a:chExt cx="74187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74187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1870">
                    <a:moveTo>
                      <a:pt x="741870" y="0"/>
                    </a:moveTo>
                    <a:lnTo>
                      <a:pt x="741870" y="812800"/>
                    </a:lnTo>
                    <a:lnTo>
                      <a:pt x="370935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4187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74187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976481" y="0"/>
              <a:ext cx="1471224" cy="1262886"/>
            </a:xfrm>
            <a:custGeom>
              <a:avLst/>
              <a:gdLst/>
              <a:ahLst/>
              <a:cxnLst/>
              <a:rect r="r" b="b" t="t" l="l"/>
              <a:pathLst>
                <a:path h="1262886" w="1471224">
                  <a:moveTo>
                    <a:pt x="0" y="0"/>
                  </a:moveTo>
                  <a:lnTo>
                    <a:pt x="1471224" y="0"/>
                  </a:lnTo>
                  <a:lnTo>
                    <a:pt x="1471224" y="1262886"/>
                  </a:lnTo>
                  <a:lnTo>
                    <a:pt x="0" y="12628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2545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 rot="0">
              <a:off x="270319" y="1807459"/>
              <a:ext cx="3365146" cy="7278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6"/>
                </a:lnSpc>
                <a:spcBef>
                  <a:spcPct val="0"/>
                </a:spcBef>
              </a:pPr>
              <a:r>
                <a:rPr lang="en-US" sz="3226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Streamlit UI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43291" y="1702159"/>
            <a:ext cx="3044442" cy="2831256"/>
            <a:chOff x="0" y="0"/>
            <a:chExt cx="4059257" cy="3775009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710248" y="0"/>
              <a:ext cx="3349009" cy="1482087"/>
              <a:chOff x="0" y="0"/>
              <a:chExt cx="914548" cy="40472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914548" cy="404728"/>
              </a:xfrm>
              <a:custGeom>
                <a:avLst/>
                <a:gdLst/>
                <a:ahLst/>
                <a:cxnLst/>
                <a:rect r="r" b="b" t="t" l="l"/>
                <a:pathLst>
                  <a:path h="404728" w="914548">
                    <a:moveTo>
                      <a:pt x="711348" y="0"/>
                    </a:moveTo>
                    <a:lnTo>
                      <a:pt x="0" y="0"/>
                    </a:lnTo>
                    <a:lnTo>
                      <a:pt x="0" y="404728"/>
                    </a:lnTo>
                    <a:lnTo>
                      <a:pt x="711348" y="404728"/>
                    </a:lnTo>
                    <a:lnTo>
                      <a:pt x="914548" y="202364"/>
                    </a:lnTo>
                    <a:lnTo>
                      <a:pt x="71134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800248" cy="442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5400000">
              <a:off x="70851" y="-70851"/>
              <a:ext cx="1482087" cy="1623788"/>
              <a:chOff x="0" y="0"/>
              <a:chExt cx="74187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74187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1870">
                    <a:moveTo>
                      <a:pt x="741870" y="0"/>
                    </a:moveTo>
                    <a:lnTo>
                      <a:pt x="741870" y="812800"/>
                    </a:lnTo>
                    <a:lnTo>
                      <a:pt x="370935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4187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74187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1556530" y="478727"/>
              <a:ext cx="643597" cy="643597"/>
            </a:xfrm>
            <a:custGeom>
              <a:avLst/>
              <a:gdLst/>
              <a:ahLst/>
              <a:cxnLst/>
              <a:rect r="r" b="b" t="t" l="l"/>
              <a:pathLst>
                <a:path h="643597" w="643597">
                  <a:moveTo>
                    <a:pt x="0" y="0"/>
                  </a:moveTo>
                  <a:lnTo>
                    <a:pt x="643597" y="0"/>
                  </a:lnTo>
                  <a:lnTo>
                    <a:pt x="643597" y="643596"/>
                  </a:lnTo>
                  <a:lnTo>
                    <a:pt x="0" y="643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480310" y="1848992"/>
              <a:ext cx="2796037" cy="19260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038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Behaviour </a:t>
              </a:r>
            </a:p>
            <a:p>
              <a:pPr algn="ctr">
                <a:lnSpc>
                  <a:spcPts val="4253"/>
                </a:lnSpc>
              </a:pPr>
              <a:r>
                <a:rPr lang="en-US" sz="3038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flags</a:t>
              </a:r>
            </a:p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engine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401653" y="1702159"/>
            <a:ext cx="3134639" cy="2263850"/>
            <a:chOff x="0" y="0"/>
            <a:chExt cx="4179519" cy="3018466"/>
          </a:xfrm>
        </p:grpSpPr>
        <p:grpSp>
          <p:nvGrpSpPr>
            <p:cNvPr name="Group 50" id="50"/>
            <p:cNvGrpSpPr/>
            <p:nvPr/>
          </p:nvGrpSpPr>
          <p:grpSpPr>
            <a:xfrm rot="0">
              <a:off x="806690" y="0"/>
              <a:ext cx="3372829" cy="1492628"/>
              <a:chOff x="0" y="0"/>
              <a:chExt cx="914548" cy="404728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914548" cy="404728"/>
              </a:xfrm>
              <a:custGeom>
                <a:avLst/>
                <a:gdLst/>
                <a:ahLst/>
                <a:cxnLst/>
                <a:rect r="r" b="b" t="t" l="l"/>
                <a:pathLst>
                  <a:path h="404728" w="914548">
                    <a:moveTo>
                      <a:pt x="711348" y="0"/>
                    </a:moveTo>
                    <a:lnTo>
                      <a:pt x="0" y="0"/>
                    </a:lnTo>
                    <a:lnTo>
                      <a:pt x="0" y="404728"/>
                    </a:lnTo>
                    <a:lnTo>
                      <a:pt x="711348" y="404728"/>
                    </a:lnTo>
                    <a:lnTo>
                      <a:pt x="914548" y="202364"/>
                    </a:lnTo>
                    <a:lnTo>
                      <a:pt x="71134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38100"/>
                <a:ext cx="800248" cy="442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5400000">
              <a:off x="162745" y="-71355"/>
              <a:ext cx="1492628" cy="1635337"/>
              <a:chOff x="0" y="0"/>
              <a:chExt cx="74187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74187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1870">
                    <a:moveTo>
                      <a:pt x="741870" y="0"/>
                    </a:moveTo>
                    <a:lnTo>
                      <a:pt x="741870" y="812800"/>
                    </a:lnTo>
                    <a:lnTo>
                      <a:pt x="370935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4187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38100"/>
                <a:ext cx="74187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0" y="1800866"/>
              <a:ext cx="3906529" cy="12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3"/>
                </a:lnSpc>
              </a:pPr>
              <a:r>
                <a:rPr lang="en-US" sz="3059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Preprocessing </a:t>
              </a:r>
            </a:p>
            <a:p>
              <a:pPr algn="ctr">
                <a:lnSpc>
                  <a:spcPts val="3059"/>
                </a:lnSpc>
                <a:spcBef>
                  <a:spcPct val="0"/>
                </a:spcBef>
              </a:pPr>
              <a:r>
                <a:rPr lang="en-US" sz="2185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Standardization </a:t>
              </a:r>
            </a:p>
          </p:txBody>
        </p:sp>
        <p:sp>
          <p:nvSpPr>
            <p:cNvPr name="Freeform 57" id="57"/>
            <p:cNvSpPr/>
            <p:nvPr/>
          </p:nvSpPr>
          <p:spPr>
            <a:xfrm flipH="false" flipV="false" rot="0">
              <a:off x="1371486" y="224441"/>
              <a:ext cx="1268187" cy="1268187"/>
            </a:xfrm>
            <a:custGeom>
              <a:avLst/>
              <a:gdLst/>
              <a:ahLst/>
              <a:cxnLst/>
              <a:rect r="r" b="b" t="t" l="l"/>
              <a:pathLst>
                <a:path h="1268187" w="1268187">
                  <a:moveTo>
                    <a:pt x="0" y="0"/>
                  </a:moveTo>
                  <a:lnTo>
                    <a:pt x="1268187" y="0"/>
                  </a:lnTo>
                  <a:lnTo>
                    <a:pt x="1268187" y="1268187"/>
                  </a:lnTo>
                  <a:lnTo>
                    <a:pt x="0" y="12681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3309" y="1702159"/>
            <a:ext cx="3229407" cy="2966167"/>
            <a:chOff x="0" y="0"/>
            <a:chExt cx="4305877" cy="3954889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753399" y="0"/>
              <a:ext cx="3552478" cy="1572131"/>
              <a:chOff x="0" y="0"/>
              <a:chExt cx="914548" cy="404728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914548" cy="404728"/>
              </a:xfrm>
              <a:custGeom>
                <a:avLst/>
                <a:gdLst/>
                <a:ahLst/>
                <a:cxnLst/>
                <a:rect r="r" b="b" t="t" l="l"/>
                <a:pathLst>
                  <a:path h="404728" w="914548">
                    <a:moveTo>
                      <a:pt x="711348" y="0"/>
                    </a:moveTo>
                    <a:lnTo>
                      <a:pt x="0" y="0"/>
                    </a:lnTo>
                    <a:lnTo>
                      <a:pt x="0" y="404728"/>
                    </a:lnTo>
                    <a:lnTo>
                      <a:pt x="711348" y="404728"/>
                    </a:lnTo>
                    <a:lnTo>
                      <a:pt x="914548" y="202364"/>
                    </a:lnTo>
                    <a:lnTo>
                      <a:pt x="71134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800248" cy="44282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grpSp>
          <p:nvGrpSpPr>
            <p:cNvPr name="Group 62" id="62"/>
            <p:cNvGrpSpPr/>
            <p:nvPr/>
          </p:nvGrpSpPr>
          <p:grpSpPr>
            <a:xfrm rot="5400000">
              <a:off x="75155" y="-75155"/>
              <a:ext cx="1572131" cy="1722441"/>
              <a:chOff x="0" y="0"/>
              <a:chExt cx="741870" cy="812800"/>
            </a:xfrm>
          </p:grpSpPr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74187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41870">
                    <a:moveTo>
                      <a:pt x="741870" y="0"/>
                    </a:moveTo>
                    <a:lnTo>
                      <a:pt x="741870" y="812800"/>
                    </a:lnTo>
                    <a:lnTo>
                      <a:pt x="370935" y="685800"/>
                    </a:lnTo>
                    <a:lnTo>
                      <a:pt x="0" y="812800"/>
                    </a:lnTo>
                    <a:lnTo>
                      <a:pt x="0" y="0"/>
                    </a:lnTo>
                    <a:lnTo>
                      <a:pt x="74187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4" id="64"/>
              <p:cNvSpPr txBox="true"/>
              <p:nvPr/>
            </p:nvSpPr>
            <p:spPr>
              <a:xfrm>
                <a:off x="0" y="-38100"/>
                <a:ext cx="741870" cy="723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65" id="65"/>
            <p:cNvSpPr/>
            <p:nvPr/>
          </p:nvSpPr>
          <p:spPr>
            <a:xfrm flipH="false" flipV="false" rot="0">
              <a:off x="1340561" y="16045"/>
              <a:ext cx="1506615" cy="1506615"/>
            </a:xfrm>
            <a:custGeom>
              <a:avLst/>
              <a:gdLst/>
              <a:ahLst/>
              <a:cxnLst/>
              <a:rect r="r" b="b" t="t" l="l"/>
              <a:pathLst>
                <a:path h="1506615" w="1506615">
                  <a:moveTo>
                    <a:pt x="0" y="0"/>
                  </a:moveTo>
                  <a:lnTo>
                    <a:pt x="1506615" y="0"/>
                  </a:lnTo>
                  <a:lnTo>
                    <a:pt x="1506615" y="1506615"/>
                  </a:lnTo>
                  <a:lnTo>
                    <a:pt x="0" y="1506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 rot="0">
              <a:off x="745397" y="1906383"/>
              <a:ext cx="2264654" cy="20485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11"/>
                </a:lnSpc>
              </a:pPr>
              <a:r>
                <a:rPr lang="en-US" sz="3222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Random</a:t>
              </a:r>
            </a:p>
            <a:p>
              <a:pPr algn="ctr">
                <a:lnSpc>
                  <a:spcPts val="4511"/>
                </a:lnSpc>
              </a:pPr>
              <a:r>
                <a:rPr lang="en-US" sz="3222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Forest</a:t>
              </a:r>
            </a:p>
            <a:p>
              <a:pPr algn="ctr">
                <a:lnSpc>
                  <a:spcPts val="3222"/>
                </a:lnSpc>
                <a:spcBef>
                  <a:spcPct val="0"/>
                </a:spcBef>
              </a:pPr>
              <a:r>
                <a:rPr lang="en-US" sz="2301">
                  <a:solidFill>
                    <a:srgbClr val="FFFFFF"/>
                  </a:solidFill>
                  <a:latin typeface="Yeseva One"/>
                  <a:ea typeface="Yeseva One"/>
                  <a:cs typeface="Yeseva One"/>
                  <a:sym typeface="Yeseva One"/>
                </a:rPr>
                <a:t>model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28700" y="211521"/>
            <a:ext cx="6857013" cy="81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5"/>
              </a:lnSpc>
              <a:spcBef>
                <a:spcPct val="0"/>
              </a:spcBef>
            </a:pPr>
            <a:r>
              <a:rPr lang="en-US" sz="481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Solution Architecture 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7725715" y="-163404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62880" y="8130249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1475" y="336114"/>
            <a:ext cx="7936119" cy="9950886"/>
            <a:chOff x="0" y="0"/>
            <a:chExt cx="2090171" cy="2620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0171" cy="2620810"/>
            </a:xfrm>
            <a:custGeom>
              <a:avLst/>
              <a:gdLst/>
              <a:ahLst/>
              <a:cxnLst/>
              <a:rect r="r" b="b" t="t" l="l"/>
              <a:pathLst>
                <a:path h="2620810" w="2090171">
                  <a:moveTo>
                    <a:pt x="19511" y="0"/>
                  </a:moveTo>
                  <a:lnTo>
                    <a:pt x="2070661" y="0"/>
                  </a:lnTo>
                  <a:cubicBezTo>
                    <a:pt x="2081436" y="0"/>
                    <a:pt x="2090171" y="8735"/>
                    <a:pt x="2090171" y="19511"/>
                  </a:cubicBezTo>
                  <a:lnTo>
                    <a:pt x="2090171" y="2601299"/>
                  </a:lnTo>
                  <a:cubicBezTo>
                    <a:pt x="2090171" y="2612074"/>
                    <a:pt x="2081436" y="2620810"/>
                    <a:pt x="2070661" y="2620810"/>
                  </a:cubicBezTo>
                  <a:lnTo>
                    <a:pt x="19511" y="2620810"/>
                  </a:lnTo>
                  <a:cubicBezTo>
                    <a:pt x="8735" y="2620810"/>
                    <a:pt x="0" y="2612074"/>
                    <a:pt x="0" y="2601299"/>
                  </a:cubicBezTo>
                  <a:lnTo>
                    <a:pt x="0" y="19511"/>
                  </a:lnTo>
                  <a:cubicBezTo>
                    <a:pt x="0" y="8735"/>
                    <a:pt x="8735" y="0"/>
                    <a:pt x="19511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90171" cy="2658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717082" y="835076"/>
            <a:ext cx="7871953" cy="1780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7"/>
              </a:lnSpc>
            </a:pPr>
            <a:r>
              <a:rPr lang="en-US" sz="4718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Behavioral Risk Flags (Rule-Based)</a:t>
            </a:r>
          </a:p>
          <a:p>
            <a:pPr algn="l">
              <a:lnSpc>
                <a:spcPts val="4577"/>
              </a:lnSpc>
            </a:pPr>
          </a:p>
        </p:txBody>
      </p:sp>
      <p:sp>
        <p:nvSpPr>
          <p:cNvPr name="AutoShape 9" id="9"/>
          <p:cNvSpPr/>
          <p:nvPr/>
        </p:nvSpPr>
        <p:spPr>
          <a:xfrm flipV="true">
            <a:off x="1268688" y="568156"/>
            <a:ext cx="0" cy="11328651"/>
          </a:xfrm>
          <a:prstGeom prst="line">
            <a:avLst/>
          </a:prstGeom>
          <a:ln cap="flat" w="9525">
            <a:solidFill>
              <a:srgbClr val="F4F4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12646" y="2480120"/>
            <a:ext cx="4786644" cy="707096"/>
            <a:chOff x="0" y="0"/>
            <a:chExt cx="6382191" cy="942794"/>
          </a:xfrm>
        </p:grpSpPr>
        <p:grpSp>
          <p:nvGrpSpPr>
            <p:cNvPr name="Group 11" id="11"/>
            <p:cNvGrpSpPr/>
            <p:nvPr/>
          </p:nvGrpSpPr>
          <p:grpSpPr>
            <a:xfrm rot="-5400000">
              <a:off x="0" y="55845"/>
              <a:ext cx="415552" cy="415552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36486" lIns="36486" bIns="36486" rIns="36486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657453" y="47625"/>
              <a:ext cx="5724738" cy="895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6"/>
                </a:lnSpc>
              </a:pPr>
              <a:r>
                <a:rPr lang="en-US" sz="2573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01 High Utilisation Flag</a:t>
              </a:r>
            </a:p>
            <a:p>
              <a:pPr algn="l">
                <a:lnSpc>
                  <a:spcPts val="2496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2646" y="5018335"/>
            <a:ext cx="5920961" cy="681506"/>
            <a:chOff x="0" y="0"/>
            <a:chExt cx="7894615" cy="908675"/>
          </a:xfrm>
        </p:grpSpPr>
        <p:grpSp>
          <p:nvGrpSpPr>
            <p:cNvPr name="Group 16" id="16"/>
            <p:cNvGrpSpPr/>
            <p:nvPr/>
          </p:nvGrpSpPr>
          <p:grpSpPr>
            <a:xfrm rot="-5400000">
              <a:off x="0" y="53824"/>
              <a:ext cx="400513" cy="400513"/>
              <a:chOff x="0" y="0"/>
              <a:chExt cx="812800" cy="8128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36486" lIns="36486" bIns="36486" rIns="36486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633660" y="38100"/>
              <a:ext cx="7260955" cy="870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6"/>
                </a:lnSpc>
              </a:pPr>
              <a:r>
                <a:rPr lang="en-US" sz="2480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02 Minimum Due Behavior Flag</a:t>
              </a:r>
            </a:p>
            <a:p>
              <a:pPr algn="l">
                <a:lnSpc>
                  <a:spcPts val="240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2646" y="7868189"/>
            <a:ext cx="6146737" cy="1017119"/>
            <a:chOff x="0" y="0"/>
            <a:chExt cx="8195649" cy="1356159"/>
          </a:xfrm>
        </p:grpSpPr>
        <p:grpSp>
          <p:nvGrpSpPr>
            <p:cNvPr name="Group 21" id="21"/>
            <p:cNvGrpSpPr/>
            <p:nvPr/>
          </p:nvGrpSpPr>
          <p:grpSpPr>
            <a:xfrm rot="-5400000">
              <a:off x="0" y="84358"/>
              <a:ext cx="413141" cy="41314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36486" lIns="36486" bIns="36486" rIns="36486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653638" y="47625"/>
              <a:ext cx="7542011" cy="13085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81"/>
                </a:lnSpc>
              </a:pPr>
              <a:r>
                <a:rPr lang="en-US" sz="2558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03 Essential Spend Spike Flag</a:t>
              </a:r>
            </a:p>
            <a:p>
              <a:pPr algn="l">
                <a:lnSpc>
                  <a:spcPts val="2481"/>
                </a:lnSpc>
              </a:pPr>
            </a:p>
            <a:p>
              <a:pPr algn="l">
                <a:lnSpc>
                  <a:spcPts val="2481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 flipV="true">
            <a:off x="9007501" y="336114"/>
            <a:ext cx="0" cy="11328651"/>
          </a:xfrm>
          <a:prstGeom prst="line">
            <a:avLst/>
          </a:prstGeom>
          <a:ln cap="flat" w="9525">
            <a:solidFill>
              <a:srgbClr val="F4F4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8846210" y="1782793"/>
            <a:ext cx="5563081" cy="1050875"/>
            <a:chOff x="0" y="0"/>
            <a:chExt cx="7417441" cy="1401166"/>
          </a:xfrm>
        </p:grpSpPr>
        <p:grpSp>
          <p:nvGrpSpPr>
            <p:cNvPr name="Group 27" id="27"/>
            <p:cNvGrpSpPr/>
            <p:nvPr/>
          </p:nvGrpSpPr>
          <p:grpSpPr>
            <a:xfrm rot="-5400000">
              <a:off x="0" y="43023"/>
              <a:ext cx="426852" cy="426852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36486" lIns="36486" bIns="36486" rIns="36486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675331" y="47625"/>
              <a:ext cx="6742110" cy="135354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64"/>
                </a:lnSpc>
              </a:pPr>
              <a:r>
                <a:rPr lang="en-US" sz="2643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04 DPD Early Warning</a:t>
              </a:r>
            </a:p>
            <a:p>
              <a:pPr algn="l">
                <a:lnSpc>
                  <a:spcPts val="2564"/>
                </a:lnSpc>
              </a:pPr>
            </a:p>
            <a:p>
              <a:pPr algn="l">
                <a:lnSpc>
                  <a:spcPts val="2564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855735" y="4291583"/>
            <a:ext cx="5271368" cy="430745"/>
            <a:chOff x="0" y="0"/>
            <a:chExt cx="7028490" cy="574326"/>
          </a:xfrm>
        </p:grpSpPr>
        <p:grpSp>
          <p:nvGrpSpPr>
            <p:cNvPr name="Group 32" id="32"/>
            <p:cNvGrpSpPr/>
            <p:nvPr/>
          </p:nvGrpSpPr>
          <p:grpSpPr>
            <a:xfrm rot="-5400000">
              <a:off x="0" y="58347"/>
              <a:ext cx="457633" cy="457633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36486" lIns="36486" bIns="36486" rIns="36486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724030" y="47625"/>
              <a:ext cx="6304460" cy="526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9"/>
                </a:lnSpc>
              </a:pPr>
              <a:r>
                <a:rPr lang="en-US" sz="2834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05 Roll Rate Risk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65260" y="6856340"/>
            <a:ext cx="6037754" cy="758026"/>
            <a:chOff x="0" y="0"/>
            <a:chExt cx="8050339" cy="1010702"/>
          </a:xfrm>
        </p:grpSpPr>
        <p:grpSp>
          <p:nvGrpSpPr>
            <p:cNvPr name="Group 37" id="37"/>
            <p:cNvGrpSpPr/>
            <p:nvPr/>
          </p:nvGrpSpPr>
          <p:grpSpPr>
            <a:xfrm rot="-5400000">
              <a:off x="0" y="59868"/>
              <a:ext cx="445483" cy="445483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535715" y="277085"/>
                    </a:lnTo>
                    <a:lnTo>
                      <a:pt x="812800" y="406400"/>
                    </a:lnTo>
                    <a:lnTo>
                      <a:pt x="535715" y="535715"/>
                    </a:lnTo>
                    <a:lnTo>
                      <a:pt x="406400" y="812800"/>
                    </a:lnTo>
                    <a:lnTo>
                      <a:pt x="277085" y="535715"/>
                    </a:lnTo>
                    <a:lnTo>
                      <a:pt x="0" y="406400"/>
                    </a:lnTo>
                    <a:lnTo>
                      <a:pt x="277085" y="277085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190500" y="228600"/>
                <a:ext cx="431800" cy="393700"/>
              </a:xfrm>
              <a:prstGeom prst="rect">
                <a:avLst/>
              </a:prstGeom>
            </p:spPr>
            <p:txBody>
              <a:bodyPr anchor="ctr" rtlCol="false" tIns="36486" lIns="36486" bIns="36486" rIns="36486"/>
              <a:lstStyle/>
              <a:p>
                <a:pPr algn="ctr" marL="0" indent="0" lvl="0">
                  <a:lnSpc>
                    <a:spcPts val="2266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704808" y="57150"/>
              <a:ext cx="7345531" cy="953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76"/>
                </a:lnSpc>
              </a:pPr>
              <a:r>
                <a:rPr lang="en-US" sz="2759">
                  <a:solidFill>
                    <a:srgbClr val="F4F4ED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06 Cash Withdrawal Spike</a:t>
              </a:r>
            </a:p>
            <a:p>
              <a:pPr algn="l">
                <a:lnSpc>
                  <a:spcPts val="2676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055745" y="3234840"/>
            <a:ext cx="1321908" cy="4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0"/>
              </a:lnSpc>
            </a:pPr>
            <a:r>
              <a:rPr lang="en-US" sz="1938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(&gt;80%)</a:t>
            </a:r>
          </a:p>
          <a:p>
            <a:pPr algn="l">
              <a:lnSpc>
                <a:spcPts val="1880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2055745" y="5747466"/>
            <a:ext cx="2075332" cy="4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0"/>
              </a:lnSpc>
            </a:pPr>
            <a:r>
              <a:rPr lang="en-US" sz="1938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(spend drop)</a:t>
            </a:r>
          </a:p>
          <a:p>
            <a:pPr algn="l">
              <a:lnSpc>
                <a:spcPts val="188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9802839" y="2497679"/>
            <a:ext cx="1321908" cy="4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0"/>
              </a:lnSpc>
            </a:pPr>
            <a:r>
              <a:rPr lang="en-US" sz="1938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(15 days)</a:t>
            </a:r>
          </a:p>
          <a:p>
            <a:pPr algn="l">
              <a:lnSpc>
                <a:spcPts val="188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9802839" y="5083337"/>
            <a:ext cx="1848344" cy="485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0"/>
              </a:lnSpc>
            </a:pPr>
            <a:r>
              <a:rPr lang="en-US" sz="1938">
                <a:solidFill>
                  <a:srgbClr val="F4F4ED"/>
                </a:solidFill>
                <a:latin typeface="Archivo Black"/>
                <a:ea typeface="Archivo Black"/>
                <a:cs typeface="Archivo Black"/>
                <a:sym typeface="Archivo Black"/>
              </a:rPr>
              <a:t>(30 / 60 DPD)</a:t>
            </a:r>
          </a:p>
          <a:p>
            <a:pPr algn="l">
              <a:lnSpc>
                <a:spcPts val="1880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626729">
            <a:off x="-7822597" y="1649857"/>
            <a:ext cx="10916385" cy="7880913"/>
          </a:xfrm>
          <a:custGeom>
            <a:avLst/>
            <a:gdLst/>
            <a:ahLst/>
            <a:cxnLst/>
            <a:rect r="r" b="b" t="t" l="l"/>
            <a:pathLst>
              <a:path h="7880913" w="10916385">
                <a:moveTo>
                  <a:pt x="10916384" y="0"/>
                </a:moveTo>
                <a:lnTo>
                  <a:pt x="0" y="0"/>
                </a:lnTo>
                <a:lnTo>
                  <a:pt x="0" y="7880913"/>
                </a:lnTo>
                <a:lnTo>
                  <a:pt x="10916384" y="7880913"/>
                </a:lnTo>
                <a:lnTo>
                  <a:pt x="1091638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6536" y="2184096"/>
            <a:ext cx="6245774" cy="6245774"/>
          </a:xfrm>
          <a:custGeom>
            <a:avLst/>
            <a:gdLst/>
            <a:ahLst/>
            <a:cxnLst/>
            <a:rect r="r" b="b" t="t" l="l"/>
            <a:pathLst>
              <a:path h="6245774" w="6245774">
                <a:moveTo>
                  <a:pt x="0" y="0"/>
                </a:moveTo>
                <a:lnTo>
                  <a:pt x="6245774" y="0"/>
                </a:lnTo>
                <a:lnTo>
                  <a:pt x="6245774" y="6245774"/>
                </a:lnTo>
                <a:lnTo>
                  <a:pt x="0" y="62457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73957" y="3294525"/>
            <a:ext cx="216098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1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434365" y="3294525"/>
            <a:ext cx="299442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1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584086" y="6406870"/>
            <a:ext cx="304651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1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73957" y="6406870"/>
            <a:ext cx="312440" cy="715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sz="410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5338" y="617094"/>
            <a:ext cx="9808748" cy="1065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02"/>
              </a:lnSpc>
              <a:spcBef>
                <a:spcPct val="0"/>
              </a:spcBef>
            </a:pPr>
            <a:r>
              <a:rPr lang="en-US" sz="6144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Machine Learning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71605" y="2581275"/>
            <a:ext cx="387062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Rendom Forest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Classifier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4063" y="5504588"/>
            <a:ext cx="369282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Risk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segmentation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69809" y="7074255"/>
            <a:ext cx="2601330" cy="118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1"/>
              </a:lnSpc>
            </a:pPr>
            <a:r>
              <a:rPr lang="en-US" sz="2265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Low:3-0.33</a:t>
            </a:r>
          </a:p>
          <a:p>
            <a:pPr algn="ctr">
              <a:lnSpc>
                <a:spcPts val="3171"/>
              </a:lnSpc>
            </a:pPr>
            <a:r>
              <a:rPr lang="en-US" sz="2265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Medium:0.33-0.66</a:t>
            </a:r>
          </a:p>
          <a:p>
            <a:pPr algn="ctr">
              <a:lnSpc>
                <a:spcPts val="3171"/>
              </a:lnSpc>
              <a:spcBef>
                <a:spcPct val="0"/>
              </a:spcBef>
            </a:pPr>
            <a:r>
              <a:rPr lang="en-US" sz="2265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High:0.66-1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053335" y="2650000"/>
            <a:ext cx="3779193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Balanced class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weighting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07310" y="6072225"/>
            <a:ext cx="3271242" cy="1393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Probability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score output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8683869" y="732016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>
              <a:alphaModFix amt="20999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68018" y="571283"/>
            <a:ext cx="12300752" cy="1738851"/>
            <a:chOff x="0" y="0"/>
            <a:chExt cx="4711613" cy="6660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11613" cy="666040"/>
            </a:xfrm>
            <a:custGeom>
              <a:avLst/>
              <a:gdLst/>
              <a:ahLst/>
              <a:cxnLst/>
              <a:rect r="r" b="b" t="t" l="l"/>
              <a:pathLst>
                <a:path h="666040" w="4711613">
                  <a:moveTo>
                    <a:pt x="12588" y="0"/>
                  </a:moveTo>
                  <a:lnTo>
                    <a:pt x="4699026" y="0"/>
                  </a:lnTo>
                  <a:cubicBezTo>
                    <a:pt x="4705977" y="0"/>
                    <a:pt x="4711613" y="5636"/>
                    <a:pt x="4711613" y="12588"/>
                  </a:cubicBezTo>
                  <a:lnTo>
                    <a:pt x="4711613" y="653452"/>
                  </a:lnTo>
                  <a:cubicBezTo>
                    <a:pt x="4711613" y="656791"/>
                    <a:pt x="4710287" y="659993"/>
                    <a:pt x="4707926" y="662353"/>
                  </a:cubicBezTo>
                  <a:cubicBezTo>
                    <a:pt x="4705565" y="664714"/>
                    <a:pt x="4702364" y="666040"/>
                    <a:pt x="4699026" y="666040"/>
                  </a:cubicBezTo>
                  <a:lnTo>
                    <a:pt x="12588" y="666040"/>
                  </a:lnTo>
                  <a:cubicBezTo>
                    <a:pt x="5636" y="666040"/>
                    <a:pt x="0" y="660404"/>
                    <a:pt x="0" y="653452"/>
                  </a:cubicBezTo>
                  <a:lnTo>
                    <a:pt x="0" y="12588"/>
                  </a:lnTo>
                  <a:cubicBezTo>
                    <a:pt x="0" y="9249"/>
                    <a:pt x="1326" y="6048"/>
                    <a:pt x="3687" y="3687"/>
                  </a:cubicBezTo>
                  <a:cubicBezTo>
                    <a:pt x="6048" y="1326"/>
                    <a:pt x="9249" y="0"/>
                    <a:pt x="12588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711613" cy="704140"/>
            </a:xfrm>
            <a:prstGeom prst="rect">
              <a:avLst/>
            </a:prstGeom>
          </p:spPr>
          <p:txBody>
            <a:bodyPr anchor="ctr" rtlCol="false" tIns="34930" lIns="34930" bIns="34930" rIns="3493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885456" y="2310134"/>
            <a:ext cx="16548484" cy="2684810"/>
          </a:xfrm>
          <a:custGeom>
            <a:avLst/>
            <a:gdLst/>
            <a:ahLst/>
            <a:cxnLst/>
            <a:rect r="r" b="b" t="t" l="l"/>
            <a:pathLst>
              <a:path h="2684810" w="16548484">
                <a:moveTo>
                  <a:pt x="0" y="0"/>
                </a:moveTo>
                <a:lnTo>
                  <a:pt x="16548484" y="0"/>
                </a:lnTo>
                <a:lnTo>
                  <a:pt x="16548484" y="2684810"/>
                </a:lnTo>
                <a:lnTo>
                  <a:pt x="0" y="26848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12" t="0" r="-6453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85456" y="1044211"/>
            <a:ext cx="11983313" cy="1690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73"/>
              </a:lnSpc>
            </a:pPr>
            <a:r>
              <a:rPr lang="en-US" sz="667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Portfolio Summary (KPIs)</a:t>
            </a:r>
          </a:p>
          <a:p>
            <a:pPr algn="l">
              <a:lnSpc>
                <a:spcPts val="6473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334019" y="1856194"/>
            <a:ext cx="3423246" cy="338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5"/>
              </a:lnSpc>
            </a:pPr>
            <a:r>
              <a:rPr lang="en-US" sz="248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 500 customers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5293038"/>
            <a:ext cx="2174168" cy="612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40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Quality</a:t>
            </a:r>
          </a:p>
          <a:p>
            <a:pPr algn="l">
              <a:lnSpc>
                <a:spcPts val="233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941523" y="5406824"/>
            <a:ext cx="2404953" cy="58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0"/>
              </a:lnSpc>
            </a:pPr>
            <a:r>
              <a:rPr lang="en-US" sz="227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Risk Coverage</a:t>
            </a:r>
          </a:p>
          <a:p>
            <a:pPr algn="l">
              <a:lnSpc>
                <a:spcPts val="221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983223" y="5403752"/>
            <a:ext cx="2546119" cy="59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1"/>
              </a:lnSpc>
            </a:pPr>
            <a:r>
              <a:rPr lang="en-US" sz="228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Response Time</a:t>
            </a:r>
          </a:p>
          <a:p>
            <a:pPr algn="l">
              <a:lnSpc>
                <a:spcPts val="2221"/>
              </a:lnSpc>
            </a:pPr>
          </a:p>
        </p:txBody>
      </p:sp>
      <p:grpSp>
        <p:nvGrpSpPr>
          <p:cNvPr name="Group 13" id="13"/>
          <p:cNvGrpSpPr/>
          <p:nvPr/>
        </p:nvGrpSpPr>
        <p:grpSpPr>
          <a:xfrm rot="0">
            <a:off x="568018" y="5905600"/>
            <a:ext cx="3956907" cy="3539039"/>
            <a:chOff x="0" y="0"/>
            <a:chExt cx="1324607" cy="118472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4607" cy="1184722"/>
            </a:xfrm>
            <a:custGeom>
              <a:avLst/>
              <a:gdLst/>
              <a:ahLst/>
              <a:cxnLst/>
              <a:rect r="r" b="b" t="t" l="l"/>
              <a:pathLst>
                <a:path h="1184722" w="1324607">
                  <a:moveTo>
                    <a:pt x="39131" y="0"/>
                  </a:moveTo>
                  <a:lnTo>
                    <a:pt x="1285476" y="0"/>
                  </a:lnTo>
                  <a:cubicBezTo>
                    <a:pt x="1307088" y="0"/>
                    <a:pt x="1324607" y="17520"/>
                    <a:pt x="1324607" y="39131"/>
                  </a:cubicBezTo>
                  <a:lnTo>
                    <a:pt x="1324607" y="1145591"/>
                  </a:lnTo>
                  <a:cubicBezTo>
                    <a:pt x="1324607" y="1167203"/>
                    <a:pt x="1307088" y="1184722"/>
                    <a:pt x="1285476" y="1184722"/>
                  </a:cubicBezTo>
                  <a:lnTo>
                    <a:pt x="39131" y="1184722"/>
                  </a:lnTo>
                  <a:cubicBezTo>
                    <a:pt x="17520" y="1184722"/>
                    <a:pt x="0" y="1167203"/>
                    <a:pt x="0" y="1145591"/>
                  </a:cubicBezTo>
                  <a:lnTo>
                    <a:pt x="0" y="39131"/>
                  </a:lnTo>
                  <a:cubicBezTo>
                    <a:pt x="0" y="17520"/>
                    <a:pt x="17520" y="0"/>
                    <a:pt x="39131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24607" cy="1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55600" y="5905600"/>
            <a:ext cx="4776800" cy="3539039"/>
            <a:chOff x="0" y="0"/>
            <a:chExt cx="1599073" cy="11847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99073" cy="1184722"/>
            </a:xfrm>
            <a:custGeom>
              <a:avLst/>
              <a:gdLst/>
              <a:ahLst/>
              <a:cxnLst/>
              <a:rect r="r" b="b" t="t" l="l"/>
              <a:pathLst>
                <a:path h="1184722" w="1599073">
                  <a:moveTo>
                    <a:pt x="32415" y="0"/>
                  </a:moveTo>
                  <a:lnTo>
                    <a:pt x="1566658" y="0"/>
                  </a:lnTo>
                  <a:cubicBezTo>
                    <a:pt x="1584561" y="0"/>
                    <a:pt x="1599073" y="14513"/>
                    <a:pt x="1599073" y="32415"/>
                  </a:cubicBezTo>
                  <a:lnTo>
                    <a:pt x="1599073" y="1152308"/>
                  </a:lnTo>
                  <a:cubicBezTo>
                    <a:pt x="1599073" y="1170210"/>
                    <a:pt x="1584561" y="1184722"/>
                    <a:pt x="1566658" y="1184722"/>
                  </a:cubicBezTo>
                  <a:lnTo>
                    <a:pt x="32415" y="1184722"/>
                  </a:lnTo>
                  <a:cubicBezTo>
                    <a:pt x="23818" y="1184722"/>
                    <a:pt x="15573" y="1181307"/>
                    <a:pt x="9494" y="1175228"/>
                  </a:cubicBezTo>
                  <a:cubicBezTo>
                    <a:pt x="3415" y="1169149"/>
                    <a:pt x="0" y="1160905"/>
                    <a:pt x="0" y="1152308"/>
                  </a:cubicBezTo>
                  <a:lnTo>
                    <a:pt x="0" y="32415"/>
                  </a:lnTo>
                  <a:cubicBezTo>
                    <a:pt x="0" y="23818"/>
                    <a:pt x="3415" y="15573"/>
                    <a:pt x="9494" y="9494"/>
                  </a:cubicBezTo>
                  <a:cubicBezTo>
                    <a:pt x="15573" y="3415"/>
                    <a:pt x="23818" y="0"/>
                    <a:pt x="32415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599073" cy="1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438934" y="5905600"/>
            <a:ext cx="4358397" cy="3539039"/>
            <a:chOff x="0" y="0"/>
            <a:chExt cx="1459009" cy="11847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59009" cy="1184722"/>
            </a:xfrm>
            <a:custGeom>
              <a:avLst/>
              <a:gdLst/>
              <a:ahLst/>
              <a:cxnLst/>
              <a:rect r="r" b="b" t="t" l="l"/>
              <a:pathLst>
                <a:path h="1184722" w="1459009">
                  <a:moveTo>
                    <a:pt x="35526" y="0"/>
                  </a:moveTo>
                  <a:lnTo>
                    <a:pt x="1423483" y="0"/>
                  </a:lnTo>
                  <a:cubicBezTo>
                    <a:pt x="1432905" y="0"/>
                    <a:pt x="1441941" y="3743"/>
                    <a:pt x="1448604" y="10405"/>
                  </a:cubicBezTo>
                  <a:cubicBezTo>
                    <a:pt x="1455266" y="17068"/>
                    <a:pt x="1459009" y="26104"/>
                    <a:pt x="1459009" y="35526"/>
                  </a:cubicBezTo>
                  <a:lnTo>
                    <a:pt x="1459009" y="1149196"/>
                  </a:lnTo>
                  <a:cubicBezTo>
                    <a:pt x="1459009" y="1158618"/>
                    <a:pt x="1455266" y="1167654"/>
                    <a:pt x="1448604" y="1174317"/>
                  </a:cubicBezTo>
                  <a:cubicBezTo>
                    <a:pt x="1441941" y="1180979"/>
                    <a:pt x="1432905" y="1184722"/>
                    <a:pt x="1423483" y="1184722"/>
                  </a:cubicBezTo>
                  <a:lnTo>
                    <a:pt x="35526" y="1184722"/>
                  </a:lnTo>
                  <a:cubicBezTo>
                    <a:pt x="26104" y="1184722"/>
                    <a:pt x="17068" y="1180979"/>
                    <a:pt x="10405" y="1174317"/>
                  </a:cubicBezTo>
                  <a:cubicBezTo>
                    <a:pt x="3743" y="1167654"/>
                    <a:pt x="0" y="1158618"/>
                    <a:pt x="0" y="1149196"/>
                  </a:cubicBezTo>
                  <a:lnTo>
                    <a:pt x="0" y="35526"/>
                  </a:lnTo>
                  <a:cubicBezTo>
                    <a:pt x="0" y="26104"/>
                    <a:pt x="3743" y="17068"/>
                    <a:pt x="10405" y="10405"/>
                  </a:cubicBezTo>
                  <a:cubicBezTo>
                    <a:pt x="17068" y="3743"/>
                    <a:pt x="26104" y="0"/>
                    <a:pt x="35526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459009" cy="1222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10816" y="6363469"/>
            <a:ext cx="3814108" cy="2585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</a:t>
            </a: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transaction processing</a:t>
            </a:r>
          </a:p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data validation</a:t>
            </a:r>
          </a:p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Behavioral pattern recognition</a:t>
            </a:r>
          </a:p>
          <a:p>
            <a:pPr algn="l">
              <a:lnSpc>
                <a:spcPts val="2933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960575" y="6363469"/>
            <a:ext cx="3814108" cy="2213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Multi-dime</a:t>
            </a: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nsional risk assessment</a:t>
            </a:r>
          </a:p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</a:t>
            </a: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edictive flag generation</a:t>
            </a:r>
          </a:p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Act</a:t>
            </a: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ionable insights delivery</a:t>
            </a:r>
          </a:p>
          <a:p>
            <a:pPr algn="l">
              <a:lnSpc>
                <a:spcPts val="2933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3587254" y="6363469"/>
            <a:ext cx="3814108" cy="1842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</a:t>
            </a: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risk evaluation</a:t>
            </a:r>
          </a:p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Automated flag triggers</a:t>
            </a:r>
          </a:p>
          <a:p>
            <a:pPr algn="l" marL="452405" indent="-226203" lvl="1">
              <a:lnSpc>
                <a:spcPts val="2933"/>
              </a:lnSpc>
              <a:buFont typeface="Arial"/>
              <a:buChar char="•"/>
            </a:pP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Immed</a:t>
            </a:r>
            <a:r>
              <a:rPr lang="en-US" b="true" sz="2095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iate alert distribution</a:t>
            </a:r>
          </a:p>
          <a:p>
            <a:pPr algn="l">
              <a:lnSpc>
                <a:spcPts val="2933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628037" y="2734853"/>
            <a:ext cx="4046986" cy="6709787"/>
            <a:chOff x="0" y="0"/>
            <a:chExt cx="1354762" cy="22461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54762" cy="2246156"/>
            </a:xfrm>
            <a:custGeom>
              <a:avLst/>
              <a:gdLst/>
              <a:ahLst/>
              <a:cxnLst/>
              <a:rect r="r" b="b" t="t" l="l"/>
              <a:pathLst>
                <a:path h="2246156" w="1354762">
                  <a:moveTo>
                    <a:pt x="38260" y="0"/>
                  </a:moveTo>
                  <a:lnTo>
                    <a:pt x="1316502" y="0"/>
                  </a:lnTo>
                  <a:cubicBezTo>
                    <a:pt x="1326649" y="0"/>
                    <a:pt x="1336381" y="4031"/>
                    <a:pt x="1343556" y="11206"/>
                  </a:cubicBezTo>
                  <a:cubicBezTo>
                    <a:pt x="1350731" y="18381"/>
                    <a:pt x="1354762" y="28113"/>
                    <a:pt x="1354762" y="38260"/>
                  </a:cubicBezTo>
                  <a:lnTo>
                    <a:pt x="1354762" y="2207896"/>
                  </a:lnTo>
                  <a:cubicBezTo>
                    <a:pt x="1354762" y="2229027"/>
                    <a:pt x="1337632" y="2246156"/>
                    <a:pt x="1316502" y="2246156"/>
                  </a:cubicBezTo>
                  <a:lnTo>
                    <a:pt x="38260" y="2246156"/>
                  </a:lnTo>
                  <a:cubicBezTo>
                    <a:pt x="17130" y="2246156"/>
                    <a:pt x="0" y="2229027"/>
                    <a:pt x="0" y="2207896"/>
                  </a:cubicBezTo>
                  <a:lnTo>
                    <a:pt x="0" y="38260"/>
                  </a:lnTo>
                  <a:cubicBezTo>
                    <a:pt x="0" y="17130"/>
                    <a:pt x="17130" y="0"/>
                    <a:pt x="38260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54762" cy="228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6626729">
            <a:off x="6423024" y="732016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>
              <a:alphaModFix amt="8999"/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821783" y="2734853"/>
            <a:ext cx="4046986" cy="6709787"/>
            <a:chOff x="0" y="0"/>
            <a:chExt cx="1354762" cy="224615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54762" cy="2246156"/>
            </a:xfrm>
            <a:custGeom>
              <a:avLst/>
              <a:gdLst/>
              <a:ahLst/>
              <a:cxnLst/>
              <a:rect r="r" b="b" t="t" l="l"/>
              <a:pathLst>
                <a:path h="2246156" w="1354762">
                  <a:moveTo>
                    <a:pt x="38260" y="0"/>
                  </a:moveTo>
                  <a:lnTo>
                    <a:pt x="1316502" y="0"/>
                  </a:lnTo>
                  <a:cubicBezTo>
                    <a:pt x="1326649" y="0"/>
                    <a:pt x="1336381" y="4031"/>
                    <a:pt x="1343556" y="11206"/>
                  </a:cubicBezTo>
                  <a:cubicBezTo>
                    <a:pt x="1350731" y="18381"/>
                    <a:pt x="1354762" y="28113"/>
                    <a:pt x="1354762" y="38260"/>
                  </a:cubicBezTo>
                  <a:lnTo>
                    <a:pt x="1354762" y="2207896"/>
                  </a:lnTo>
                  <a:cubicBezTo>
                    <a:pt x="1354762" y="2229027"/>
                    <a:pt x="1337632" y="2246156"/>
                    <a:pt x="1316502" y="2246156"/>
                  </a:cubicBezTo>
                  <a:lnTo>
                    <a:pt x="38260" y="2246156"/>
                  </a:lnTo>
                  <a:cubicBezTo>
                    <a:pt x="17130" y="2246156"/>
                    <a:pt x="0" y="2229027"/>
                    <a:pt x="0" y="2207896"/>
                  </a:cubicBezTo>
                  <a:lnTo>
                    <a:pt x="0" y="38260"/>
                  </a:lnTo>
                  <a:cubicBezTo>
                    <a:pt x="0" y="17130"/>
                    <a:pt x="17130" y="0"/>
                    <a:pt x="38260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54762" cy="22842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293091" y="6089746"/>
            <a:ext cx="3858148" cy="4582026"/>
          </a:xfrm>
          <a:custGeom>
            <a:avLst/>
            <a:gdLst/>
            <a:ahLst/>
            <a:cxnLst/>
            <a:rect r="r" b="b" t="t" l="l"/>
            <a:pathLst>
              <a:path h="4582026" w="3858148">
                <a:moveTo>
                  <a:pt x="0" y="0"/>
                </a:moveTo>
                <a:lnTo>
                  <a:pt x="3858149" y="0"/>
                </a:lnTo>
                <a:lnTo>
                  <a:pt x="3858149" y="4582025"/>
                </a:lnTo>
                <a:lnTo>
                  <a:pt x="0" y="45820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5245" t="0" r="-230182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424360" y="7954819"/>
            <a:ext cx="1635423" cy="1303481"/>
          </a:xfrm>
          <a:custGeom>
            <a:avLst/>
            <a:gdLst/>
            <a:ahLst/>
            <a:cxnLst/>
            <a:rect r="r" b="b" t="t" l="l"/>
            <a:pathLst>
              <a:path h="1303481" w="1635423">
                <a:moveTo>
                  <a:pt x="0" y="0"/>
                </a:moveTo>
                <a:lnTo>
                  <a:pt x="1635423" y="0"/>
                </a:lnTo>
                <a:lnTo>
                  <a:pt x="1635423" y="1303481"/>
                </a:lnTo>
                <a:lnTo>
                  <a:pt x="0" y="13034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65251" y="1953729"/>
            <a:ext cx="6623057" cy="4117224"/>
          </a:xfrm>
          <a:custGeom>
            <a:avLst/>
            <a:gdLst/>
            <a:ahLst/>
            <a:cxnLst/>
            <a:rect r="r" b="b" t="t" l="l"/>
            <a:pathLst>
              <a:path h="4117224" w="6623057">
                <a:moveTo>
                  <a:pt x="0" y="0"/>
                </a:moveTo>
                <a:lnTo>
                  <a:pt x="6623057" y="0"/>
                </a:lnTo>
                <a:lnTo>
                  <a:pt x="6623057" y="4117224"/>
                </a:lnTo>
                <a:lnTo>
                  <a:pt x="0" y="41172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6202" t="0" r="-41465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752241" y="468718"/>
            <a:ext cx="7750410" cy="1337437"/>
            <a:chOff x="0" y="0"/>
            <a:chExt cx="3617784" cy="6242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17785" cy="624297"/>
            </a:xfrm>
            <a:custGeom>
              <a:avLst/>
              <a:gdLst/>
              <a:ahLst/>
              <a:cxnLst/>
              <a:rect r="r" b="b" t="t" l="l"/>
              <a:pathLst>
                <a:path h="624297" w="3617785">
                  <a:moveTo>
                    <a:pt x="19978" y="0"/>
                  </a:moveTo>
                  <a:lnTo>
                    <a:pt x="3597806" y="0"/>
                  </a:lnTo>
                  <a:cubicBezTo>
                    <a:pt x="3603105" y="0"/>
                    <a:pt x="3608186" y="2105"/>
                    <a:pt x="3611933" y="5851"/>
                  </a:cubicBezTo>
                  <a:cubicBezTo>
                    <a:pt x="3615680" y="9598"/>
                    <a:pt x="3617785" y="14680"/>
                    <a:pt x="3617785" y="19978"/>
                  </a:cubicBezTo>
                  <a:lnTo>
                    <a:pt x="3617785" y="604319"/>
                  </a:lnTo>
                  <a:cubicBezTo>
                    <a:pt x="3617785" y="609617"/>
                    <a:pt x="3615680" y="614699"/>
                    <a:pt x="3611933" y="618446"/>
                  </a:cubicBezTo>
                  <a:cubicBezTo>
                    <a:pt x="3608186" y="622192"/>
                    <a:pt x="3603105" y="624297"/>
                    <a:pt x="3597806" y="624297"/>
                  </a:cubicBezTo>
                  <a:lnTo>
                    <a:pt x="19978" y="624297"/>
                  </a:lnTo>
                  <a:cubicBezTo>
                    <a:pt x="14680" y="624297"/>
                    <a:pt x="9598" y="622192"/>
                    <a:pt x="5851" y="618446"/>
                  </a:cubicBezTo>
                  <a:cubicBezTo>
                    <a:pt x="2105" y="614699"/>
                    <a:pt x="0" y="609617"/>
                    <a:pt x="0" y="604319"/>
                  </a:cubicBezTo>
                  <a:lnTo>
                    <a:pt x="0" y="19978"/>
                  </a:lnTo>
                  <a:cubicBezTo>
                    <a:pt x="0" y="14680"/>
                    <a:pt x="2105" y="9598"/>
                    <a:pt x="5851" y="5851"/>
                  </a:cubicBezTo>
                  <a:cubicBezTo>
                    <a:pt x="9598" y="2105"/>
                    <a:pt x="14680" y="0"/>
                    <a:pt x="19978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3617784" cy="662397"/>
            </a:xfrm>
            <a:prstGeom prst="rect">
              <a:avLst/>
            </a:prstGeom>
          </p:spPr>
          <p:txBody>
            <a:bodyPr anchor="ctr" rtlCol="false" tIns="28663" lIns="28663" bIns="28663" rIns="28663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59068" y="713661"/>
            <a:ext cx="9833245" cy="139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54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Visual Dashboards</a:t>
            </a:r>
          </a:p>
          <a:p>
            <a:pPr algn="l">
              <a:lnSpc>
                <a:spcPts val="5311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759372" y="1370683"/>
            <a:ext cx="2970619" cy="435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4"/>
              </a:lnSpc>
            </a:pPr>
            <a:r>
              <a:rPr lang="en-US" sz="165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 500 customers</a:t>
            </a:r>
          </a:p>
          <a:p>
            <a:pPr algn="l">
              <a:lnSpc>
                <a:spcPts val="160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9088639" y="3080754"/>
            <a:ext cx="3532324" cy="71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2816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Portfolio Risk Score</a:t>
            </a:r>
          </a:p>
          <a:p>
            <a:pPr algn="l">
              <a:lnSpc>
                <a:spcPts val="2703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3813853" y="3080754"/>
            <a:ext cx="3789655" cy="712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3"/>
              </a:lnSpc>
            </a:pPr>
            <a:r>
              <a:rPr lang="en-US" sz="2816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Streamlit UI Features</a:t>
            </a:r>
          </a:p>
          <a:p>
            <a:pPr algn="l">
              <a:lnSpc>
                <a:spcPts val="2703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4012564"/>
            <a:ext cx="3296626" cy="405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</a:pPr>
            <a:r>
              <a:rPr lang="en-US" sz="32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Real-time</a:t>
            </a:r>
            <a:r>
              <a:rPr lang="en-US" b="true" sz="329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gauge showing overall portfolio health with color-coded risk levels</a:t>
            </a:r>
          </a:p>
          <a:p>
            <a:pPr algn="ctr">
              <a:lnSpc>
                <a:spcPts val="4616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003217" y="4031357"/>
            <a:ext cx="3296626" cy="4050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6"/>
              </a:lnSpc>
            </a:pPr>
            <a:r>
              <a:rPr lang="en-US" sz="32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Interactive</a:t>
            </a:r>
            <a:r>
              <a:rPr lang="en-US" b="true" sz="329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dashboard with drag-drop file upload and instant risk visualization</a:t>
            </a:r>
          </a:p>
          <a:p>
            <a:pPr algn="ctr">
              <a:lnSpc>
                <a:spcPts val="461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3323972" y="6367262"/>
            <a:ext cx="2105616" cy="42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1"/>
              </a:lnSpc>
            </a:pPr>
            <a:r>
              <a:rPr lang="en-US" sz="1678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Risk Distribution</a:t>
            </a:r>
          </a:p>
          <a:p>
            <a:pPr algn="l">
              <a:lnSpc>
                <a:spcPts val="1611"/>
              </a:lnSpc>
            </a:pP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4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7216" y="1697239"/>
            <a:ext cx="17512298" cy="8182290"/>
            <a:chOff x="0" y="0"/>
            <a:chExt cx="4612292" cy="215500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12293" cy="2155006"/>
            </a:xfrm>
            <a:custGeom>
              <a:avLst/>
              <a:gdLst/>
              <a:ahLst/>
              <a:cxnLst/>
              <a:rect r="r" b="b" t="t" l="l"/>
              <a:pathLst>
                <a:path h="2155006" w="4612293">
                  <a:moveTo>
                    <a:pt x="8842" y="0"/>
                  </a:moveTo>
                  <a:lnTo>
                    <a:pt x="4603451" y="0"/>
                  </a:lnTo>
                  <a:cubicBezTo>
                    <a:pt x="4605796" y="0"/>
                    <a:pt x="4608045" y="932"/>
                    <a:pt x="4609703" y="2590"/>
                  </a:cubicBezTo>
                  <a:cubicBezTo>
                    <a:pt x="4611361" y="4248"/>
                    <a:pt x="4612293" y="6497"/>
                    <a:pt x="4612293" y="8842"/>
                  </a:cubicBezTo>
                  <a:lnTo>
                    <a:pt x="4612293" y="2146165"/>
                  </a:lnTo>
                  <a:cubicBezTo>
                    <a:pt x="4612293" y="2148510"/>
                    <a:pt x="4611361" y="2150759"/>
                    <a:pt x="4609703" y="2152417"/>
                  </a:cubicBezTo>
                  <a:cubicBezTo>
                    <a:pt x="4608045" y="2154075"/>
                    <a:pt x="4605796" y="2155006"/>
                    <a:pt x="4603451" y="2155006"/>
                  </a:cubicBezTo>
                  <a:lnTo>
                    <a:pt x="8842" y="2155006"/>
                  </a:lnTo>
                  <a:cubicBezTo>
                    <a:pt x="6497" y="2155006"/>
                    <a:pt x="4248" y="2154075"/>
                    <a:pt x="2590" y="2152417"/>
                  </a:cubicBezTo>
                  <a:cubicBezTo>
                    <a:pt x="932" y="2150759"/>
                    <a:pt x="0" y="2148510"/>
                    <a:pt x="0" y="2146165"/>
                  </a:cubicBezTo>
                  <a:lnTo>
                    <a:pt x="0" y="8842"/>
                  </a:lnTo>
                  <a:cubicBezTo>
                    <a:pt x="0" y="6497"/>
                    <a:pt x="932" y="4248"/>
                    <a:pt x="2590" y="2590"/>
                  </a:cubicBezTo>
                  <a:cubicBezTo>
                    <a:pt x="4248" y="932"/>
                    <a:pt x="6497" y="0"/>
                    <a:pt x="8842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12292" cy="21931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421" y="2416163"/>
            <a:ext cx="6954390" cy="6085091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675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377825"/>
              <a:ext cx="558800" cy="282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4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59068" y="713661"/>
            <a:ext cx="9833245" cy="1390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11"/>
              </a:lnSpc>
            </a:pPr>
            <a:r>
              <a:rPr lang="en-US" sz="5476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Recommended Actions</a:t>
            </a:r>
          </a:p>
          <a:p>
            <a:pPr algn="l">
              <a:lnSpc>
                <a:spcPts val="5311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5601066" y="3264830"/>
            <a:ext cx="6291716" cy="67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193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Proactive outreach, payment plan, EMI options</a:t>
            </a:r>
          </a:p>
          <a:p>
            <a:pPr algn="ctr">
              <a:lnSpc>
                <a:spcPts val="2709"/>
              </a:lnSpc>
              <a:spcBef>
                <a:spcPct val="0"/>
              </a:spcBef>
            </a:pPr>
          </a:p>
        </p:txBody>
      </p:sp>
      <p:sp>
        <p:nvSpPr>
          <p:cNvPr name="AutoShape 10" id="10"/>
          <p:cNvSpPr/>
          <p:nvPr/>
        </p:nvSpPr>
        <p:spPr>
          <a:xfrm>
            <a:off x="3082430" y="4553851"/>
            <a:ext cx="2438721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780453" y="6777333"/>
            <a:ext cx="5011260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4209923" y="3559238"/>
            <a:ext cx="343291" cy="3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72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94645" y="5505864"/>
            <a:ext cx="343291" cy="3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72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27970" y="7453608"/>
            <a:ext cx="343291" cy="367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</a:pPr>
            <a:r>
              <a:rPr lang="en-US" sz="2728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35241" y="2501888"/>
            <a:ext cx="3112944" cy="1125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440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High Risk</a:t>
            </a:r>
          </a:p>
          <a:p>
            <a:pPr algn="l">
              <a:lnSpc>
                <a:spcPts val="427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6791713" y="4639576"/>
            <a:ext cx="4287800" cy="1125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440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Medium Risk</a:t>
            </a:r>
          </a:p>
          <a:p>
            <a:pPr algn="l">
              <a:lnSpc>
                <a:spcPts val="427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8183495" y="6872583"/>
            <a:ext cx="3572927" cy="1295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1"/>
              </a:lnSpc>
            </a:pPr>
            <a:r>
              <a:rPr lang="en-US" sz="506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Low Risk</a:t>
            </a:r>
          </a:p>
          <a:p>
            <a:pPr algn="l">
              <a:lnSpc>
                <a:spcPts val="4911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157538" y="5411084"/>
            <a:ext cx="3242060" cy="67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193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Reminder SMS + nudges</a:t>
            </a:r>
          </a:p>
          <a:p>
            <a:pPr algn="ctr">
              <a:lnSpc>
                <a:spcPts val="270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8778568" y="7773064"/>
            <a:ext cx="2498530" cy="67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9"/>
              </a:lnSpc>
            </a:pPr>
            <a:r>
              <a:rPr lang="en-US" sz="193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No action, monitor</a:t>
            </a:r>
          </a:p>
          <a:p>
            <a:pPr algn="ctr">
              <a:lnSpc>
                <a:spcPts val="270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6626729">
            <a:off x="-8844239" y="322201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9"/>
                </a:lnTo>
                <a:lnTo>
                  <a:pt x="12221289" y="8822969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64954" y="2916124"/>
            <a:ext cx="7386619" cy="3796250"/>
            <a:chOff x="0" y="0"/>
            <a:chExt cx="1945447" cy="9998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45447" cy="999835"/>
            </a:xfrm>
            <a:custGeom>
              <a:avLst/>
              <a:gdLst/>
              <a:ahLst/>
              <a:cxnLst/>
              <a:rect r="r" b="b" t="t" l="l"/>
              <a:pathLst>
                <a:path h="999835" w="1945447">
                  <a:moveTo>
                    <a:pt x="20962" y="0"/>
                  </a:moveTo>
                  <a:lnTo>
                    <a:pt x="1924485" y="0"/>
                  </a:lnTo>
                  <a:cubicBezTo>
                    <a:pt x="1936062" y="0"/>
                    <a:pt x="1945447" y="9385"/>
                    <a:pt x="1945447" y="20962"/>
                  </a:cubicBezTo>
                  <a:lnTo>
                    <a:pt x="1945447" y="978873"/>
                  </a:lnTo>
                  <a:cubicBezTo>
                    <a:pt x="1945447" y="984433"/>
                    <a:pt x="1943239" y="989765"/>
                    <a:pt x="1939307" y="993696"/>
                  </a:cubicBezTo>
                  <a:cubicBezTo>
                    <a:pt x="1935376" y="997627"/>
                    <a:pt x="1930044" y="999835"/>
                    <a:pt x="1924485" y="999835"/>
                  </a:cubicBezTo>
                  <a:lnTo>
                    <a:pt x="20962" y="999835"/>
                  </a:lnTo>
                  <a:cubicBezTo>
                    <a:pt x="15403" y="999835"/>
                    <a:pt x="10071" y="997627"/>
                    <a:pt x="6140" y="993696"/>
                  </a:cubicBezTo>
                  <a:cubicBezTo>
                    <a:pt x="2208" y="989765"/>
                    <a:pt x="0" y="984433"/>
                    <a:pt x="0" y="978873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45447" cy="1037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89758" y="1014844"/>
            <a:ext cx="8557578" cy="1489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7"/>
              </a:lnSpc>
            </a:pPr>
            <a:r>
              <a:rPr lang="en-US" sz="587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Outputs Generated</a:t>
            </a:r>
          </a:p>
          <a:p>
            <a:pPr algn="l">
              <a:lnSpc>
                <a:spcPts val="569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913534" y="5124450"/>
            <a:ext cx="668945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1999" spc="119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ustomer segmentation with risk level color coding for quick visual identification of high-risk accounts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691999" y="3857409"/>
            <a:ext cx="7753095" cy="95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37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Color-coded Excel risk file</a:t>
            </a:r>
          </a:p>
          <a:p>
            <a:pPr algn="l">
              <a:lnSpc>
                <a:spcPts val="361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379159" y="2916124"/>
            <a:ext cx="7386619" cy="3796250"/>
            <a:chOff x="0" y="0"/>
            <a:chExt cx="1945447" cy="9998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5447" cy="999835"/>
            </a:xfrm>
            <a:custGeom>
              <a:avLst/>
              <a:gdLst/>
              <a:ahLst/>
              <a:cxnLst/>
              <a:rect r="r" b="b" t="t" l="l"/>
              <a:pathLst>
                <a:path h="999835" w="1945447">
                  <a:moveTo>
                    <a:pt x="20962" y="0"/>
                  </a:moveTo>
                  <a:lnTo>
                    <a:pt x="1924485" y="0"/>
                  </a:lnTo>
                  <a:cubicBezTo>
                    <a:pt x="1936062" y="0"/>
                    <a:pt x="1945447" y="9385"/>
                    <a:pt x="1945447" y="20962"/>
                  </a:cubicBezTo>
                  <a:lnTo>
                    <a:pt x="1945447" y="978873"/>
                  </a:lnTo>
                  <a:cubicBezTo>
                    <a:pt x="1945447" y="984433"/>
                    <a:pt x="1943239" y="989765"/>
                    <a:pt x="1939307" y="993696"/>
                  </a:cubicBezTo>
                  <a:cubicBezTo>
                    <a:pt x="1935376" y="997627"/>
                    <a:pt x="1930044" y="999835"/>
                    <a:pt x="1924485" y="999835"/>
                  </a:cubicBezTo>
                  <a:lnTo>
                    <a:pt x="20962" y="999835"/>
                  </a:lnTo>
                  <a:cubicBezTo>
                    <a:pt x="15403" y="999835"/>
                    <a:pt x="10071" y="997627"/>
                    <a:pt x="6140" y="993696"/>
                  </a:cubicBezTo>
                  <a:cubicBezTo>
                    <a:pt x="2208" y="989765"/>
                    <a:pt x="0" y="984433"/>
                    <a:pt x="0" y="978873"/>
                  </a:cubicBezTo>
                  <a:lnTo>
                    <a:pt x="0" y="20962"/>
                  </a:lnTo>
                  <a:cubicBezTo>
                    <a:pt x="0" y="15403"/>
                    <a:pt x="2208" y="10071"/>
                    <a:pt x="6140" y="6140"/>
                  </a:cubicBezTo>
                  <a:cubicBezTo>
                    <a:pt x="10071" y="2208"/>
                    <a:pt x="15403" y="0"/>
                    <a:pt x="20962" y="0"/>
                  </a:cubicBezTo>
                  <a:close/>
                </a:path>
              </a:pathLst>
            </a:custGeom>
            <a:solidFill>
              <a:srgbClr val="04001E"/>
            </a:solidFill>
            <a:ln w="38100" cap="sq">
              <a:solidFill>
                <a:srgbClr val="E5E1D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45447" cy="10379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27740" y="5124450"/>
            <a:ext cx="668945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  <a:r>
              <a:rPr lang="en-US" sz="1999" spc="119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</a:t>
            </a:r>
            <a:r>
              <a:rPr lang="en-US" sz="1999" spc="119" u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ustomer segmentation with risk level color coding for quick visual identification of high-risk accounts</a:t>
            </a:r>
          </a:p>
          <a:p>
            <a:pPr algn="l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506205" y="3857409"/>
            <a:ext cx="7753095" cy="956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372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Color-coded Excel risk file</a:t>
            </a:r>
          </a:p>
          <a:p>
            <a:pPr algn="l">
              <a:lnSpc>
                <a:spcPts val="3613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695790" y="4366038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1"/>
                </a:lnTo>
                <a:lnTo>
                  <a:pt x="0" y="896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88431" y="1303175"/>
            <a:ext cx="14311139" cy="1766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06"/>
              </a:lnSpc>
            </a:pPr>
            <a:r>
              <a:rPr lang="en-US" sz="6913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UI Features (Streamlit)</a:t>
            </a:r>
          </a:p>
          <a:p>
            <a:pPr algn="ctr" marL="0" indent="0" lvl="1">
              <a:lnSpc>
                <a:spcPts val="6706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-1298119" y="4700465"/>
            <a:ext cx="20061513" cy="0"/>
          </a:xfrm>
          <a:prstGeom prst="line">
            <a:avLst/>
          </a:prstGeom>
          <a:ln cap="flat" w="28575">
            <a:solidFill>
              <a:srgbClr val="F4F4E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4108531" y="4449437"/>
            <a:ext cx="502056" cy="50205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36063" y="4449437"/>
            <a:ext cx="502056" cy="50205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6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80999" y="4449437"/>
            <a:ext cx="502056" cy="50205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66392" y="4449437"/>
            <a:ext cx="502056" cy="5020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28700" y="521970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829432" y="5219700"/>
            <a:ext cx="2197323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68294" y="5219700"/>
            <a:ext cx="927467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82146" y="5219700"/>
            <a:ext cx="107054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5951518" y="7740823"/>
            <a:ext cx="896420" cy="896420"/>
          </a:xfrm>
          <a:custGeom>
            <a:avLst/>
            <a:gdLst/>
            <a:ahLst/>
            <a:cxnLst/>
            <a:rect r="r" b="b" t="t" l="l"/>
            <a:pathLst>
              <a:path h="896420" w="896420">
                <a:moveTo>
                  <a:pt x="0" y="0"/>
                </a:moveTo>
                <a:lnTo>
                  <a:pt x="896420" y="0"/>
                </a:lnTo>
                <a:lnTo>
                  <a:pt x="896420" y="896420"/>
                </a:lnTo>
                <a:lnTo>
                  <a:pt x="0" y="8964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29451" y="6137276"/>
            <a:ext cx="2115280" cy="65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File upload</a:t>
            </a:r>
          </a:p>
          <a:p>
            <a:pPr algn="ctr" marL="0" indent="0" lvl="1">
              <a:lnSpc>
                <a:spcPts val="2474"/>
              </a:lnSpc>
              <a:spcBef>
                <a:spcPct val="0"/>
              </a:spcBef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13231272" y="4449437"/>
            <a:ext cx="502056" cy="502056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088190" y="5219700"/>
            <a:ext cx="107054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05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6299569" y="4449437"/>
            <a:ext cx="502056" cy="502056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535715" y="277085"/>
                  </a:lnTo>
                  <a:lnTo>
                    <a:pt x="812800" y="406400"/>
                  </a:lnTo>
                  <a:lnTo>
                    <a:pt x="535715" y="535715"/>
                  </a:lnTo>
                  <a:lnTo>
                    <a:pt x="406400" y="812800"/>
                  </a:lnTo>
                  <a:lnTo>
                    <a:pt x="277085" y="535715"/>
                  </a:lnTo>
                  <a:lnTo>
                    <a:pt x="0" y="406400"/>
                  </a:lnTo>
                  <a:lnTo>
                    <a:pt x="277085" y="277085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190500" y="228600"/>
              <a:ext cx="431800" cy="393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2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6015323" y="5103442"/>
            <a:ext cx="1070549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0"/>
              </a:lnSpc>
            </a:pPr>
            <a:r>
              <a:rPr lang="en-US" sz="5000" b="true">
                <a:solidFill>
                  <a:srgbClr val="FFFFFF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16498" y="6137276"/>
            <a:ext cx="2490872" cy="65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preview</a:t>
            </a:r>
          </a:p>
          <a:p>
            <a:pPr algn="ctr" marL="0" indent="0" lvl="1">
              <a:lnSpc>
                <a:spcPts val="2474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6274387" y="6080126"/>
            <a:ext cx="2115280" cy="96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Risk prediction</a:t>
            </a:r>
          </a:p>
          <a:p>
            <a:pPr algn="ctr" marL="0" indent="0" lvl="1">
              <a:lnSpc>
                <a:spcPts val="2474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9259780" y="5766920"/>
            <a:ext cx="2115280" cy="1279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</a:p>
          <a:p>
            <a:pPr algn="ctr">
              <a:lnSpc>
                <a:spcPts val="2474"/>
              </a:lnSpc>
            </a:pP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PDF</a:t>
            </a: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report generator</a:t>
            </a:r>
          </a:p>
          <a:p>
            <a:pPr algn="ctr" marL="0" indent="0" lvl="1">
              <a:lnSpc>
                <a:spcPts val="2474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12424660" y="6032501"/>
            <a:ext cx="2115280" cy="966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Excel</a:t>
            </a: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 export</a:t>
            </a:r>
          </a:p>
          <a:p>
            <a:pPr algn="ctr" marL="0" indent="0" lvl="1">
              <a:lnSpc>
                <a:spcPts val="2474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14956398" y="5892709"/>
            <a:ext cx="2651839" cy="124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4"/>
              </a:lnSpc>
            </a:pP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Easy-to-understand visualizati</a:t>
            </a:r>
            <a:r>
              <a:rPr lang="en-US" sz="2551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ons</a:t>
            </a:r>
          </a:p>
          <a:p>
            <a:pPr algn="ctr" marL="0" indent="0" lvl="1">
              <a:lnSpc>
                <a:spcPts val="2474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51543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2" y="0"/>
                </a:lnTo>
                <a:lnTo>
                  <a:pt x="2387052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07616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1" y="0"/>
                </a:lnTo>
                <a:lnTo>
                  <a:pt x="2387051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63689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1" y="0"/>
                </a:lnTo>
                <a:lnTo>
                  <a:pt x="2387051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819761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2" y="0"/>
                </a:lnTo>
                <a:lnTo>
                  <a:pt x="2387052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75834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2" y="0"/>
                </a:lnTo>
                <a:lnTo>
                  <a:pt x="2387052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52018" y="5345269"/>
            <a:ext cx="2986101" cy="1534110"/>
          </a:xfrm>
          <a:custGeom>
            <a:avLst/>
            <a:gdLst/>
            <a:ahLst/>
            <a:cxnLst/>
            <a:rect r="r" b="b" t="t" l="l"/>
            <a:pathLst>
              <a:path h="1534110" w="2986101">
                <a:moveTo>
                  <a:pt x="0" y="0"/>
                </a:moveTo>
                <a:lnTo>
                  <a:pt x="2986102" y="0"/>
                </a:lnTo>
                <a:lnTo>
                  <a:pt x="2986102" y="1534110"/>
                </a:lnTo>
                <a:lnTo>
                  <a:pt x="0" y="1534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764164" y="5345269"/>
            <a:ext cx="2986101" cy="1534110"/>
          </a:xfrm>
          <a:custGeom>
            <a:avLst/>
            <a:gdLst/>
            <a:ahLst/>
            <a:cxnLst/>
            <a:rect r="r" b="b" t="t" l="l"/>
            <a:pathLst>
              <a:path h="1534110" w="2986101">
                <a:moveTo>
                  <a:pt x="0" y="0"/>
                </a:moveTo>
                <a:lnTo>
                  <a:pt x="2986101" y="0"/>
                </a:lnTo>
                <a:lnTo>
                  <a:pt x="2986101" y="1534110"/>
                </a:lnTo>
                <a:lnTo>
                  <a:pt x="0" y="1534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76309" y="5345269"/>
            <a:ext cx="2986101" cy="1534110"/>
          </a:xfrm>
          <a:custGeom>
            <a:avLst/>
            <a:gdLst/>
            <a:ahLst/>
            <a:cxnLst/>
            <a:rect r="r" b="b" t="t" l="l"/>
            <a:pathLst>
              <a:path h="1534110" w="2986101">
                <a:moveTo>
                  <a:pt x="0" y="0"/>
                </a:moveTo>
                <a:lnTo>
                  <a:pt x="2986102" y="0"/>
                </a:lnTo>
                <a:lnTo>
                  <a:pt x="2986102" y="1534110"/>
                </a:lnTo>
                <a:lnTo>
                  <a:pt x="0" y="15341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0635251" y="3929337"/>
            <a:ext cx="2756073" cy="1415932"/>
          </a:xfrm>
          <a:custGeom>
            <a:avLst/>
            <a:gdLst/>
            <a:ahLst/>
            <a:cxnLst/>
            <a:rect r="r" b="b" t="t" l="l"/>
            <a:pathLst>
              <a:path h="1415932" w="2756073">
                <a:moveTo>
                  <a:pt x="0" y="0"/>
                </a:moveTo>
                <a:lnTo>
                  <a:pt x="2756073" y="0"/>
                </a:lnTo>
                <a:lnTo>
                  <a:pt x="2756073" y="1415932"/>
                </a:lnTo>
                <a:lnTo>
                  <a:pt x="0" y="1415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5126641" y="3929337"/>
            <a:ext cx="2756073" cy="1415932"/>
          </a:xfrm>
          <a:custGeom>
            <a:avLst/>
            <a:gdLst/>
            <a:ahLst/>
            <a:cxnLst/>
            <a:rect r="r" b="b" t="t" l="l"/>
            <a:pathLst>
              <a:path h="1415932" w="2756073">
                <a:moveTo>
                  <a:pt x="0" y="0"/>
                </a:moveTo>
                <a:lnTo>
                  <a:pt x="2756073" y="0"/>
                </a:lnTo>
                <a:lnTo>
                  <a:pt x="2756073" y="1415932"/>
                </a:lnTo>
                <a:lnTo>
                  <a:pt x="0" y="1415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551543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2" y="0"/>
                </a:lnTo>
                <a:lnTo>
                  <a:pt x="2387052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8284" y="463051"/>
            <a:ext cx="6078712" cy="701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9"/>
              </a:lnSpc>
              <a:spcBef>
                <a:spcPct val="0"/>
              </a:spcBef>
            </a:pPr>
            <a:r>
              <a:rPr lang="en-US" sz="404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System Scalability Plan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2180" y="1921546"/>
            <a:ext cx="2990921" cy="2091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2"/>
              </a:lnSpc>
            </a:pPr>
            <a:r>
              <a:rPr lang="en-US" sz="2894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Batch scoring pipeline</a:t>
            </a:r>
          </a:p>
          <a:p>
            <a:pPr algn="ctr">
              <a:lnSpc>
                <a:spcPts val="1695"/>
              </a:lnSpc>
            </a:pPr>
          </a:p>
          <a:p>
            <a:pPr algn="ctr">
              <a:lnSpc>
                <a:spcPts val="2228"/>
              </a:lnSpc>
              <a:spcBef>
                <a:spcPct val="0"/>
              </a:spcBef>
            </a:pPr>
            <a:r>
              <a:rPr lang="en-US" sz="1592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Implement high-throughput batch processing system for large-scale model inference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00832" y="1991666"/>
            <a:ext cx="3912765" cy="2081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3"/>
              </a:lnSpc>
            </a:pPr>
            <a:r>
              <a:rPr lang="en-US" sz="2667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Cloud deployment (AWS/Azure)</a:t>
            </a:r>
          </a:p>
          <a:p>
            <a:pPr algn="ctr">
              <a:lnSpc>
                <a:spcPts val="2381"/>
              </a:lnSpc>
            </a:pPr>
          </a:p>
          <a:p>
            <a:pPr algn="ctr">
              <a:lnSpc>
                <a:spcPts val="2225"/>
              </a:lnSpc>
              <a:spcBef>
                <a:spcPct val="0"/>
              </a:spcBef>
            </a:pPr>
            <a:r>
              <a:rPr lang="en-US" sz="158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Migrate infrastructure to scalable cloud platform with auto-scaling capabilities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35171" y="5048250"/>
            <a:ext cx="232470" cy="76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4"/>
              </a:lnSpc>
            </a:pPr>
            <a:r>
              <a:rPr lang="en-US" sz="441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1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307616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1" y="0"/>
                </a:lnTo>
                <a:lnTo>
                  <a:pt x="2387051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390039" y="4978480"/>
            <a:ext cx="322064" cy="76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4"/>
              </a:lnSpc>
            </a:pPr>
            <a:r>
              <a:rPr lang="en-US" sz="441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2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63689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1" y="0"/>
                </a:lnTo>
                <a:lnTo>
                  <a:pt x="2387051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9093380" y="4978480"/>
            <a:ext cx="327670" cy="76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74"/>
              </a:lnSpc>
            </a:pPr>
            <a:r>
              <a:rPr lang="en-US" sz="4410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10580" y="1989085"/>
            <a:ext cx="4115989" cy="164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95"/>
              </a:lnSpc>
            </a:pPr>
            <a:r>
              <a:rPr lang="en-US" sz="363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Drift monitoring</a:t>
            </a:r>
          </a:p>
          <a:p>
            <a:pPr algn="ctr">
              <a:lnSpc>
                <a:spcPts val="3249"/>
              </a:lnSpc>
            </a:pPr>
          </a:p>
          <a:p>
            <a:pPr algn="ctr">
              <a:lnSpc>
                <a:spcPts val="2299"/>
              </a:lnSpc>
              <a:spcBef>
                <a:spcPct val="0"/>
              </a:spcBef>
            </a:pPr>
            <a:r>
              <a:rPr lang="en-US" sz="164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Implement continuous performance monitoring and alerting system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75822" y="7060354"/>
            <a:ext cx="3857712" cy="2395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2"/>
              </a:lnSpc>
            </a:pPr>
            <a:r>
              <a:rPr lang="en-US" sz="3144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Weekly retraining with new data</a:t>
            </a:r>
          </a:p>
          <a:p>
            <a:pPr algn="ctr">
              <a:lnSpc>
                <a:spcPts val="2808"/>
              </a:lnSpc>
            </a:pPr>
          </a:p>
          <a:p>
            <a:pPr algn="ctr">
              <a:lnSpc>
                <a:spcPts val="2421"/>
              </a:lnSpc>
              <a:spcBef>
                <a:spcPct val="0"/>
              </a:spcBef>
            </a:pPr>
            <a:r>
              <a:rPr lang="en-US" sz="172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Establish automated data pipeline and model retraining schedule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99693" y="7050829"/>
            <a:ext cx="4227189" cy="2357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2"/>
              </a:lnSpc>
            </a:pPr>
            <a:r>
              <a:rPr lang="en-US" sz="3272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Integration with CRM/SMS systems</a:t>
            </a:r>
          </a:p>
          <a:p>
            <a:pPr algn="ctr">
              <a:lnSpc>
                <a:spcPts val="1842"/>
              </a:lnSpc>
            </a:pP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Develop API connectors for seamless integration with business systems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575834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2" y="0"/>
                </a:lnTo>
                <a:lnTo>
                  <a:pt x="2387052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4607209" y="4915509"/>
            <a:ext cx="322731" cy="764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1"/>
              </a:lnSpc>
              <a:spcBef>
                <a:spcPct val="0"/>
              </a:spcBef>
            </a:pPr>
            <a:r>
              <a:rPr lang="en-US" sz="4457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5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0819761" y="4270026"/>
            <a:ext cx="2387051" cy="2387051"/>
          </a:xfrm>
          <a:custGeom>
            <a:avLst/>
            <a:gdLst/>
            <a:ahLst/>
            <a:cxnLst/>
            <a:rect r="r" b="b" t="t" l="l"/>
            <a:pathLst>
              <a:path h="2387051" w="2387051">
                <a:moveTo>
                  <a:pt x="0" y="0"/>
                </a:moveTo>
                <a:lnTo>
                  <a:pt x="2387052" y="0"/>
                </a:lnTo>
                <a:lnTo>
                  <a:pt x="2387052" y="2387051"/>
                </a:lnTo>
                <a:lnTo>
                  <a:pt x="0" y="23870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1811502" y="4896459"/>
            <a:ext cx="403571" cy="90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5"/>
              </a:lnSpc>
              <a:spcBef>
                <a:spcPct val="0"/>
              </a:spcBef>
            </a:pPr>
            <a:r>
              <a:rPr lang="en-US" sz="5297">
                <a:solidFill>
                  <a:srgbClr val="000000"/>
                </a:solidFill>
                <a:latin typeface="Yeseva One"/>
                <a:ea typeface="Yeseva One"/>
                <a:cs typeface="Yeseva One"/>
                <a:sym typeface="Yeseva One"/>
              </a:rPr>
              <a:t>4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6626729">
            <a:off x="8683869" y="732016"/>
            <a:ext cx="12221289" cy="8822969"/>
          </a:xfrm>
          <a:custGeom>
            <a:avLst/>
            <a:gdLst/>
            <a:ahLst/>
            <a:cxnLst/>
            <a:rect r="r" b="b" t="t" l="l"/>
            <a:pathLst>
              <a:path h="8822969" w="12221289">
                <a:moveTo>
                  <a:pt x="12221289" y="0"/>
                </a:moveTo>
                <a:lnTo>
                  <a:pt x="0" y="0"/>
                </a:lnTo>
                <a:lnTo>
                  <a:pt x="0" y="8822968"/>
                </a:lnTo>
                <a:lnTo>
                  <a:pt x="12221289" y="8822968"/>
                </a:lnTo>
                <a:lnTo>
                  <a:pt x="12221289" y="0"/>
                </a:lnTo>
                <a:close/>
              </a:path>
            </a:pathLst>
          </a:custGeom>
          <a:blipFill>
            <a:blip r:embed="rId2">
              <a:alphaModFix amt="2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749016" y="5232610"/>
            <a:ext cx="8625760" cy="4205058"/>
          </a:xfrm>
          <a:custGeom>
            <a:avLst/>
            <a:gdLst/>
            <a:ahLst/>
            <a:cxnLst/>
            <a:rect r="r" b="b" t="t" l="l"/>
            <a:pathLst>
              <a:path h="4205058" w="8625760">
                <a:moveTo>
                  <a:pt x="0" y="0"/>
                </a:moveTo>
                <a:lnTo>
                  <a:pt x="8625759" y="0"/>
                </a:lnTo>
                <a:lnTo>
                  <a:pt x="8625759" y="4205058"/>
                </a:lnTo>
                <a:lnTo>
                  <a:pt x="0" y="42050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468078" y="5791512"/>
            <a:ext cx="1694037" cy="1694037"/>
          </a:xfrm>
          <a:custGeom>
            <a:avLst/>
            <a:gdLst/>
            <a:ahLst/>
            <a:cxnLst/>
            <a:rect r="r" b="b" t="t" l="l"/>
            <a:pathLst>
              <a:path h="1694037" w="1694037">
                <a:moveTo>
                  <a:pt x="1694037" y="0"/>
                </a:moveTo>
                <a:lnTo>
                  <a:pt x="0" y="0"/>
                </a:lnTo>
                <a:lnTo>
                  <a:pt x="0" y="1694038"/>
                </a:lnTo>
                <a:lnTo>
                  <a:pt x="1694037" y="1694038"/>
                </a:lnTo>
                <a:lnTo>
                  <a:pt x="1694037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123538" y="7613985"/>
            <a:ext cx="1870238" cy="1051074"/>
          </a:xfrm>
          <a:custGeom>
            <a:avLst/>
            <a:gdLst/>
            <a:ahLst/>
            <a:cxnLst/>
            <a:rect r="r" b="b" t="t" l="l"/>
            <a:pathLst>
              <a:path h="1051074" w="1870238">
                <a:moveTo>
                  <a:pt x="0" y="0"/>
                </a:moveTo>
                <a:lnTo>
                  <a:pt x="1870237" y="0"/>
                </a:lnTo>
                <a:lnTo>
                  <a:pt x="1870237" y="1051074"/>
                </a:lnTo>
                <a:lnTo>
                  <a:pt x="0" y="10510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40135" y="7160048"/>
            <a:ext cx="2098252" cy="2098252"/>
          </a:xfrm>
          <a:custGeom>
            <a:avLst/>
            <a:gdLst/>
            <a:ahLst/>
            <a:cxnLst/>
            <a:rect r="r" b="b" t="t" l="l"/>
            <a:pathLst>
              <a:path h="2098252" w="2098252">
                <a:moveTo>
                  <a:pt x="0" y="0"/>
                </a:moveTo>
                <a:lnTo>
                  <a:pt x="2098251" y="0"/>
                </a:lnTo>
                <a:lnTo>
                  <a:pt x="2098251" y="2098252"/>
                </a:lnTo>
                <a:lnTo>
                  <a:pt x="0" y="20982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32078" y="5791512"/>
            <a:ext cx="1738388" cy="1694037"/>
          </a:xfrm>
          <a:custGeom>
            <a:avLst/>
            <a:gdLst/>
            <a:ahLst/>
            <a:cxnLst/>
            <a:rect r="r" b="b" t="t" l="l"/>
            <a:pathLst>
              <a:path h="1694037" w="1738388">
                <a:moveTo>
                  <a:pt x="0" y="0"/>
                </a:moveTo>
                <a:lnTo>
                  <a:pt x="1738387" y="0"/>
                </a:lnTo>
                <a:lnTo>
                  <a:pt x="1738387" y="1694038"/>
                </a:lnTo>
                <a:lnTo>
                  <a:pt x="0" y="16940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8021" t="-75393" r="-74043" b="-6274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34026" y="1538884"/>
            <a:ext cx="3636506" cy="4164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68"/>
              </a:lnSpc>
            </a:pPr>
            <a:r>
              <a:rPr lang="en-US" sz="3834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SHAP explainability</a:t>
            </a:r>
          </a:p>
          <a:p>
            <a:pPr algn="ctr">
              <a:lnSpc>
                <a:spcPts val="4516"/>
              </a:lnSpc>
            </a:pPr>
          </a:p>
          <a:p>
            <a:pPr algn="ctr">
              <a:lnSpc>
                <a:spcPts val="2952"/>
              </a:lnSpc>
              <a:spcBef>
                <a:spcPct val="0"/>
              </a:spcBef>
            </a:pPr>
            <a:r>
              <a:rPr lang="en-US" sz="2108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Implement SHAP values to provide transparent model explanations and feature importance rankings for all predictions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59719" y="1538884"/>
            <a:ext cx="2833895" cy="3104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6"/>
              </a:lnSpc>
            </a:pPr>
            <a:r>
              <a:rPr lang="en-US" sz="3247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Real-time scoring API</a:t>
            </a:r>
          </a:p>
          <a:p>
            <a:pPr algn="ctr">
              <a:lnSpc>
                <a:spcPts val="2589"/>
              </a:lnSpc>
            </a:pPr>
          </a:p>
          <a:p>
            <a:pPr algn="ctr">
              <a:lnSpc>
                <a:spcPts val="2589"/>
              </a:lnSpc>
              <a:spcBef>
                <a:spcPct val="0"/>
              </a:spcBef>
            </a:pPr>
            <a:r>
              <a:rPr lang="en-US" sz="1849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Develop low-latency API endpoint for instant model predictions with sub-100ms response times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88827" y="1311287"/>
            <a:ext cx="3821266" cy="3394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1"/>
              </a:lnSpc>
            </a:pPr>
            <a:r>
              <a:rPr lang="en-US" sz="3694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Fraud anomaly detection</a:t>
            </a:r>
          </a:p>
          <a:p>
            <a:pPr algn="ctr">
              <a:lnSpc>
                <a:spcPts val="5297"/>
              </a:lnSpc>
            </a:pPr>
          </a:p>
          <a:p>
            <a:pPr algn="ctr">
              <a:lnSpc>
                <a:spcPts val="2775"/>
              </a:lnSpc>
              <a:spcBef>
                <a:spcPct val="0"/>
              </a:spcBef>
            </a:pPr>
            <a:r>
              <a:rPr lang="en-US" sz="1982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Integrate unsupervised learning models to flag suspicious transactions and behavioral patterns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06864" y="2258448"/>
            <a:ext cx="4008555" cy="3344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18"/>
              </a:lnSpc>
            </a:pPr>
            <a:r>
              <a:rPr lang="en-US" sz="3584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SMS bot for auto-reminders</a:t>
            </a:r>
          </a:p>
          <a:p>
            <a:pPr algn="ctr">
              <a:lnSpc>
                <a:spcPts val="5269"/>
              </a:lnSpc>
            </a:pPr>
          </a:p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1971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Automate customer engagement through personalized SMS notifications and payment reminders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64160"/>
            <a:ext cx="6261398" cy="76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Future Enhancements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14527" y="2826011"/>
            <a:ext cx="13258947" cy="2940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04"/>
              </a:lnSpc>
              <a:spcBef>
                <a:spcPct val="0"/>
              </a:spcBef>
            </a:pPr>
            <a:r>
              <a:rPr lang="en-US" sz="17074">
                <a:solidFill>
                  <a:srgbClr val="FFFFFF"/>
                </a:solidFill>
                <a:latin typeface="Yeseva One"/>
                <a:ea typeface="Yeseva One"/>
                <a:cs typeface="Yeseva One"/>
                <a:sym typeface="Yeseva One"/>
              </a:rPr>
              <a:t>THANK YOU 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DAG7FuI5nII</dc:identifier>
  <dcterms:modified xsi:type="dcterms:W3CDTF">2011-08-01T06:04:30Z</dcterms:modified>
  <cp:revision>1</cp:revision>
  <dc:title>Credit Card Early Risk Detection System</dc:title>
</cp:coreProperties>
</file>